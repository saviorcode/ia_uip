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24"/>
  </p:notesMasterIdLst>
  <p:handoutMasterIdLst>
    <p:handoutMasterId r:id="rId25"/>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aive Bayes con KDE para Mantenimiento Predictivo" id="{F0FD84D1-542B-4B8C-885E-0B41F2B56A82}">
          <p14:sldIdLst>
            <p14:sldId id="2561"/>
          </p14:sldIdLst>
        </p14:section>
        <p14:section name="Contexto general del proyecto" id="{5130662F-BD2D-441B-97CD-30AAEA14ACFA}">
          <p14:sldIdLst>
            <p14:sldId id="2562"/>
            <p14:sldId id="2563"/>
          </p14:sldIdLst>
        </p14:section>
        <p14:section name="Fundamentos y motivación teórica" id="{48AC950A-588E-4B3C-B3E4-6BDB8584609B}">
          <p14:sldIdLst>
            <p14:sldId id="2564"/>
            <p14:sldId id="2565"/>
          </p14:sldIdLst>
        </p14:section>
        <p14:section name="Datos y problema abordado" id="{ACAFE143-E562-4C02-9915-27C34FB30346}">
          <p14:sldIdLst>
            <p14:sldId id="2566"/>
            <p14:sldId id="2567"/>
          </p14:sldIdLst>
        </p14:section>
        <p14:section name="Estrategia de evaluación" id="{B233EF93-9F62-4737-A0C4-2BE695713956}">
          <p14:sldIdLst>
            <p14:sldId id="2568"/>
            <p14:sldId id="2569"/>
          </p14:sldIdLst>
        </p14:section>
        <p14:section name="Preparación de los datos" id="{866DF485-275E-4B55-BED9-09A6EBB5EDDC}">
          <p14:sldIdLst>
            <p14:sldId id="2570"/>
            <p14:sldId id="2571"/>
          </p14:sldIdLst>
        </p14:section>
        <p14:section name="Modelos implementados" id="{B0002D1E-5C1C-47AB-9A2E-4551F9800981}">
          <p14:sldIdLst>
            <p14:sldId id="2572"/>
            <p14:sldId id="2573"/>
          </p14:sldIdLst>
        </p14:section>
        <p14:section name="Resultados obtenidos" id="{29DE9CFE-68A2-40B3-8F9C-19673F16EAF4}">
          <p14:sldIdLst>
            <p14:sldId id="2574"/>
            <p14:sldId id="2575"/>
          </p14:sldIdLst>
        </p14:section>
        <p14:section name="Interpretación visual" id="{A54047E9-7855-4AE0-BB45-C2D7B43111C7}">
          <p14:sldIdLst>
            <p14:sldId id="2576"/>
            <p14:sldId id="2577"/>
          </p14:sldIdLst>
        </p14:section>
        <p14:section name="Cierre y conclusiones" id="{FA67DF89-D7B3-47CE-B9CC-BD7E2703461D}">
          <p14:sldIdLst>
            <p14:sldId id="2578"/>
            <p14:sldId id="25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82D39B-2B1A-4AB3-AF83-2082DE08DC64}" v="1" dt="2026-03-15T22:17:46.375"/>
    <p1510:client id="{A5D32969-BE1F-D0CE-1CEC-4FBE900F1DD0}" v="7" dt="2026-03-15T22:21:38.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94597"/>
  </p:normalViewPr>
  <p:slideViewPr>
    <p:cSldViewPr snapToGrid="0">
      <p:cViewPr varScale="1">
        <p:scale>
          <a:sx n="107" d="100"/>
          <a:sy n="107" d="100"/>
        </p:scale>
        <p:origin x="1944" y="9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fecha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23FF85-4E34-4546-B772-76DFA4A6051B}" type="datetimeFigureOut">
              <a:rPr lang="en-US" smtClean="0"/>
              <a:t>3/15/2026</a:t>
            </a:fld>
            <a:endParaRPr lang="en-US"/>
          </a:p>
        </p:txBody>
      </p:sp>
      <p:sp>
        <p:nvSpPr>
          <p:cNvPr id="4" name="Marcador de pie de página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Marcador de número de diapositiva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1BF7180-4EDD-4E08-9775-7398C11D66ED}" type="slidenum">
              <a:rPr lang="en-US" smtClean="0"/>
              <a:t>‹Nº›</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B5CC398-6116-4BD2-9FAD-9822FDA158BE}" type="datetimeFigureOut">
              <a:rPr lang="en-US" smtClean="0"/>
              <a:t>3/15/2026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8EFF46E-6B43-41F9-9272-B566D03A251C}" type="slidenum">
              <a:rPr lang="en-US" smtClean="0"/>
              <a:t>‹Nº›</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Origen de imagen: biblioteca de contenido de Microsoft 365</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a:t>
            </a:fld>
            <a:endParaRPr lang="en-US"/>
          </a:p>
        </p:txBody>
      </p:sp>
    </p:spTree>
    <p:extLst>
      <p:ext uri="{BB962C8B-B14F-4D97-AF65-F5344CB8AC3E}">
        <p14:creationId xmlns:p14="http://schemas.microsoft.com/office/powerpoint/2010/main" val="4088228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Portada y contexto académico del proyecto</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2</a:t>
            </a:fld>
            <a:endParaRPr lang="en-US"/>
          </a:p>
        </p:txBody>
      </p:sp>
    </p:spTree>
    <p:extLst>
      <p:ext uri="{BB962C8B-B14F-4D97-AF65-F5344CB8AC3E}">
        <p14:creationId xmlns:p14="http://schemas.microsoft.com/office/powerpoint/2010/main" val="1391242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Esta presentación corresponde al Proyecto 1 del curso de Inteligencia Artificial del Cuatrimestre III 2025 y aborda la aplicación del clasificador Naive Bayes con técnicas de estimación de densidad Kernel Density Estimation (KDE) al problema de mantenimiento predictivo industrial. El objetivo central del proyecto es evaluar si reemplazar la suposición gaussiana clásica de Naive Bayes por un estimador no paramétrico como KDE produce mejoras significativas en el desempeño del modelo, específicamente en un contexto de datos altamente desbalanceados. El trabajo fue desarrollado por un único integrante, Ariel Ortega, lo que implicó la implementación completa del pipeline: análisis exploratorio, preprocesamiento, modelado, validación cruzada y análisis crítico de resultados. La presentación está diseñada para una duración aproximada de 15 minutos, con un enfoque claro en la comprensión conceptual, la justificación metodológica y la interpretación de resultados. A lo largo de las diapositivas se conectan los fundamentos teóricos del teorema de Bayes, la estimación de densidades y el trade-off sesgo-varianza con resultados empíricos obtenidos a partir del dataset AI4I 2020 Predictive Maintenance. Este contexto académico permite demostrar no solo la correcta aplicación de modelos de machine learning, sino también la capacidad de análisis crítico y toma de decisiones fundamentadas en evidencia experimental, aspectos clave evaluados en el curso. 
 Origen de imagen: biblioteca de contenido de Microsoft 365</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3</a:t>
            </a:fld>
            <a:endParaRPr lang="en-US"/>
          </a:p>
        </p:txBody>
      </p:sp>
    </p:spTree>
    <p:extLst>
      <p:ext uri="{BB962C8B-B14F-4D97-AF65-F5344CB8AC3E}">
        <p14:creationId xmlns:p14="http://schemas.microsoft.com/office/powerpoint/2010/main" val="1472236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Introducción a Naive Bayes y motivación del uso de KDE</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4</a:t>
            </a:fld>
            <a:endParaRPr lang="en-US"/>
          </a:p>
        </p:txBody>
      </p:sp>
    </p:spTree>
    <p:extLst>
      <p:ext uri="{BB962C8B-B14F-4D97-AF65-F5344CB8AC3E}">
        <p14:creationId xmlns:p14="http://schemas.microsoft.com/office/powerpoint/2010/main" val="998677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Naive Bayes es un clasificador probabilístico ampliamente utilizado debido a su simplicidad, eficiencia computacional y sorprendente buen desempeño en muchos problemas reales. Está basado en el teorema de Bayes y asume independencia condicional entre las variables predictoras dado el valor de la clase. En su versión más común, Gaussian Naive Bayes, se supone que cada variable sigue una distribución normal condicionada a la clase, lo que permite estimar la verosimilitud mediante parámetros de media y varianza. Sin embargo, esta suposición puede resultar limitante cuando los datos presentan asimetrías, colas pesadas o multimodalidad. En este contexto surge la motivación de utilizar Kernel Density Estimation, un método no paramétrico que estima directamente la densidad de probabilidad a partir de los datos sin imponer una forma funcional específica. KDE permite capturar distribuciones más complejas ajustando un parámetro clave llamado bandwidth, que controla el nivel de suavizado. La pregunta de investigación central del proyecto es si este mayor poder de modelado se traduce efectivamente en una mejora medible del desempeño predictivo, específicamente en términos de AUC ROC, o si el incremento en costo computacional no justifica su uso frente al enfoque gaussiano tradicional. 
 Origen de imagen: biblioteca de contenido de Microsoft 365</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5</a:t>
            </a:fld>
            <a:endParaRPr lang="en-US"/>
          </a:p>
        </p:txBody>
      </p:sp>
    </p:spTree>
    <p:extLst>
      <p:ext uri="{BB962C8B-B14F-4D97-AF65-F5344CB8AC3E}">
        <p14:creationId xmlns:p14="http://schemas.microsoft.com/office/powerpoint/2010/main" val="3323288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Descripción del dataset AI4I 2020 y desbalanceo de clases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6</a:t>
            </a:fld>
            <a:endParaRPr lang="en-US"/>
          </a:p>
        </p:txBody>
      </p:sp>
    </p:spTree>
    <p:extLst>
      <p:ext uri="{BB962C8B-B14F-4D97-AF65-F5344CB8AC3E}">
        <p14:creationId xmlns:p14="http://schemas.microsoft.com/office/powerpoint/2010/main" val="3183504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proyecto utiliza el AI4I 2020 Predictive Maintenance Dataset, un conjunto de datos ampliamente empleado en investigación académica para problemas de mantenimiento predictivo. El dataset contiene 10,000 muestras que representan el estado operativo de máquinas industriales, con el objetivo de predecir si ocurrirá o no una falla. El problema es de clasificación binaria y presenta un desbalanceo severo: aproximadamente el 96.6% de las observaciones corresponden a la clase sin falla, mientras que solo el 3.4% representan fallas reales. Este desbalanceo tiene implicaciones críticas tanto en la selección de métricas como en la interpretación de resultados, ya que métricas como accuracy pueden ser altamente engañosas. El dataset incluye variables físicas como temperaturas, velocidad rotacional, torque y desgaste de herramienta, las cuales tienen significado ingenieril directo. Estas características hacen que el problema sea realista y desafiante, y justifican el uso de métricas robustas como AUC ROC para evaluar la capacidad discriminativa de los modelos más allá de un umbral de decisión fijo.</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7</a:t>
            </a:fld>
            <a:endParaRPr lang="en-US"/>
          </a:p>
        </p:txBody>
      </p:sp>
    </p:spTree>
    <p:extLst>
      <p:ext uri="{BB962C8B-B14F-4D97-AF65-F5344CB8AC3E}">
        <p14:creationId xmlns:p14="http://schemas.microsoft.com/office/powerpoint/2010/main" val="2779904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Metodología de evaluación y métricas utilizadas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8</a:t>
            </a:fld>
            <a:endParaRPr lang="en-US"/>
          </a:p>
        </p:txBody>
      </p:sp>
    </p:spTree>
    <p:extLst>
      <p:ext uri="{BB962C8B-B14F-4D97-AF65-F5344CB8AC3E}">
        <p14:creationId xmlns:p14="http://schemas.microsoft.com/office/powerpoint/2010/main" val="1091693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evaluación de los modelos se realizó utilizando validación cruzada estratificada de 5 folds, una técnica que permite obtener estimaciones robustas del desempeño asegurando que cada partición mantenga la proporción original de clases. La métrica principal utilizada fue el AUC ROC, que mide la capacidad del modelo para discriminar entre clases positivas y negativas a lo largo de todos los posibles umbrales de decisión. Esta métrica es especialmente adecuada en contextos de fuerte desbalanceo, ya que no se ve afectada por la proporción de clases como ocurre con el accuracy. Además del AUC ROC, se midió el tiempo total de computación, incluyendo entrenamiento y predicción, con el fin de evaluar la viabilidad práctica de cada enfoque. En el caso de los modelos KDE, también se analizó el impacto del bandwidth como parámetro crítico, dado su efecto directo en el trade-off entre sesgo y varianza. Esta metodología integral permite comparar no solo la precisión, sino también la eficiencia y estabilidad de los distintos modelos.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9</a:t>
            </a:fld>
            <a:endParaRPr lang="en-US"/>
          </a:p>
        </p:txBody>
      </p:sp>
    </p:spTree>
    <p:extLst>
      <p:ext uri="{BB962C8B-B14F-4D97-AF65-F5344CB8AC3E}">
        <p14:creationId xmlns:p14="http://schemas.microsoft.com/office/powerpoint/2010/main" val="2824420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Preprocesamiento y selección de variables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10</a:t>
            </a:fld>
            <a:endParaRPr lang="en-US"/>
          </a:p>
        </p:txBody>
      </p:sp>
    </p:spTree>
    <p:extLst>
      <p:ext uri="{BB962C8B-B14F-4D97-AF65-F5344CB8AC3E}">
        <p14:creationId xmlns:p14="http://schemas.microsoft.com/office/powerpoint/2010/main" val="2265541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preprocesamiento del dataset incluyó la eliminación de columnas no informativas como identificadores únicos y variables categóricas sin valor predictivo directo. También se descartaron columnas que representaban fallas específicas distintas de la variable objetivo, para evitar fuga de información. El conjunto final de características quedó compuesto por siete variables: temperaturas de aire y proceso, velocidad rotacional, torque, desgaste de herramienta y tres variables dummy que representan el tipo de producto. Una decisión metodológica importante fue no aplicar normalización de las variables. Esta elección se justificó porque KDE puede manejar diferentes escalas de forma natural y porque las variables tienen unidades físicas significativas que se prefirió preservar. Este paso asegura que el modelo trabaje con información relevante y coherente con el contexto industrial del problema.</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11</a:t>
            </a:fld>
            <a:endParaRPr lang="en-US"/>
          </a:p>
        </p:txBody>
      </p:sp>
    </p:spTree>
    <p:extLst>
      <p:ext uri="{BB962C8B-B14F-4D97-AF65-F5344CB8AC3E}">
        <p14:creationId xmlns:p14="http://schemas.microsoft.com/office/powerpoint/2010/main" val="1602364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Comparación de GaussianNB y variantes KDE</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12</a:t>
            </a:fld>
            <a:endParaRPr lang="en-US"/>
          </a:p>
        </p:txBody>
      </p:sp>
    </p:spTree>
    <p:extLst>
      <p:ext uri="{BB962C8B-B14F-4D97-AF65-F5344CB8AC3E}">
        <p14:creationId xmlns:p14="http://schemas.microsoft.com/office/powerpoint/2010/main" val="306609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 compararon cuatro modelos principales: Gaussian Naive Bayes como baseline y tres variantes de Naive Bayes con KDE. Estas incluyen un KDE gaussiano con bandwidth optimizado mediante validación cruzada, un KDE Parzen con kernel tophat y bandwidth fijo, y un KDE con regla de Silverman para selección automática del bandwidth. Los modelos KDE fueron implementados desde cero mediante una clase personalizada NaiveBayesKDE, incorporando técnicas de estabilidad numérica como el uso de log-probabilidades y clipping para evitar underflow. Esta implementación permitió un control detallado del proceso de estimación de densidades y facilitó el análisis comparativo entre enfoques paramétricos y no paramétricos.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13</a:t>
            </a:fld>
            <a:endParaRPr lang="en-US"/>
          </a:p>
        </p:txBody>
      </p:sp>
    </p:spTree>
    <p:extLst>
      <p:ext uri="{BB962C8B-B14F-4D97-AF65-F5344CB8AC3E}">
        <p14:creationId xmlns:p14="http://schemas.microsoft.com/office/powerpoint/2010/main" val="1495400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Resultados comparativos y análisis de desempeño</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14</a:t>
            </a:fld>
            <a:endParaRPr lang="en-US"/>
          </a:p>
        </p:txBody>
      </p:sp>
    </p:spTree>
    <p:extLst>
      <p:ext uri="{BB962C8B-B14F-4D97-AF65-F5344CB8AC3E}">
        <p14:creationId xmlns:p14="http://schemas.microsoft.com/office/powerpoint/2010/main" val="2935173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Los resultados experimentales muestran que todos los modelos alcanzan valores de AUC ROC cercanos a 0.89, con diferencias menores al 1% entre ellos. Gaussian Naive Bayes obtuvo un desempeño prácticamente equivalente al de las variantes KDE, pero con una ventaja sustancial en tiempo de computación, siendo aproximadamente 70 veces más rápido. Las desviaciones estándar obtenidas mediante validación cruzada indican que las diferencias observadas no son estadísticamente significativas. Este hallazgo sugiere que, para este dataset específico, la suposición de normalidad es razonable y captura adecuadamente la estructura de los datos. Las curvas ROC superpuestas refuerzan esta conclusión al mostrar comportamientos casi idénticos entre modelos. 
 Origen de imagen: biblioteca de contenido de Microsoft 365</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15</a:t>
            </a:fld>
            <a:endParaRPr lang="en-US"/>
          </a:p>
        </p:txBody>
      </p:sp>
    </p:spTree>
    <p:extLst>
      <p:ext uri="{BB962C8B-B14F-4D97-AF65-F5344CB8AC3E}">
        <p14:creationId xmlns:p14="http://schemas.microsoft.com/office/powerpoint/2010/main" val="2948851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Visualización de densidades y efecto del bandwidth</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16</a:t>
            </a:fld>
            <a:endParaRPr lang="en-US"/>
          </a:p>
        </p:txBody>
      </p:sp>
    </p:spTree>
    <p:extLst>
      <p:ext uri="{BB962C8B-B14F-4D97-AF65-F5344CB8AC3E}">
        <p14:creationId xmlns:p14="http://schemas.microsoft.com/office/powerpoint/2010/main" val="2709361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Las visualizaciones de densidades estimadas permiten interpretar de forma intuitiva el comportamiento de cada método KDE. Para variables como Air temperature y Process temperature, las distribuciones observadas son aproximadamente gaussianas, lo que explica el buen desempeño del modelo baseline. En contraste, variables como Torque pueden presentar ligeras asimetrías, donde KDE ofrece mayor flexibilidad. El análisis del bandwidth muestra su impacto crítico: valores pequeños generan curvas ruidosas con riesgo de overfitting, mientras que valores grandes producen excesivo suavizado y pérdida de información. La optimización del bandwidth busca precisamente equilibrar este trade-off entre sesgo y varianza, un concepto central en aprendizaje estadístico. 
 Origen de imagen: biblioteca de contenido de Microsoft 365</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17</a:t>
            </a:fld>
            <a:endParaRPr lang="en-US"/>
          </a:p>
        </p:txBody>
      </p:sp>
    </p:spTree>
    <p:extLst>
      <p:ext uri="{BB962C8B-B14F-4D97-AF65-F5344CB8AC3E}">
        <p14:creationId xmlns:p14="http://schemas.microsoft.com/office/powerpoint/2010/main" val="314893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Conclusiones finales y recomendaciones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18</a:t>
            </a:fld>
            <a:endParaRPr lang="en-US"/>
          </a:p>
        </p:txBody>
      </p:sp>
    </p:spTree>
    <p:extLst>
      <p:ext uri="{BB962C8B-B14F-4D97-AF65-F5344CB8AC3E}">
        <p14:creationId xmlns:p14="http://schemas.microsoft.com/office/powerpoint/2010/main" val="1386138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proyecto demuestra que, si bien es posible implementar Naive Bayes con KDE de forma correcta y rigurosa, su uso no siempre garantiza mejoras en desempeño. En este caso particular, Gaussian Naive Bayes ofrece un balance óptimo entre precisión y eficiencia computacional. KDE resulta más adecuado en escenarios con distribuciones altamente no gaussianas o cuando el costo computacional no es una restricción. A nivel de aprendizaje, el trabajo permitió profundizar en conceptos clave como estimación de densidades, validación cruzada, estabilidad numérica y análisis crítico de resultados. La recomendación final es evaluar siempre la complejidad del modelo en función del problema específico y no asumir que métodos más sofisticados producirán automáticamente mejores resultados.</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19</a:t>
            </a:fld>
            <a:endParaRPr lang="en-US"/>
          </a:p>
        </p:txBody>
      </p:sp>
    </p:spTree>
    <p:extLst>
      <p:ext uri="{BB962C8B-B14F-4D97-AF65-F5344CB8AC3E}">
        <p14:creationId xmlns:p14="http://schemas.microsoft.com/office/powerpoint/2010/main" val="1254714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rtl="0"/>
            <a:r>
              <a:rPr lang="es"/>
              <a:t>Haga clic para modificar el estilo de título del patrón</a:t>
            </a:r>
          </a:p>
        </p:txBody>
      </p:sp>
      <p:sp>
        <p:nvSpPr>
          <p:cNvPr id="25" name="Subtítulo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rtl="0"/>
            <a:r>
              <a:rPr lang="es"/>
              <a:t>Haga clic para editar el estilo de subtítulo del patrón</a:t>
            </a:r>
          </a:p>
        </p:txBody>
      </p:sp>
      <p:sp>
        <p:nvSpPr>
          <p:cNvPr id="21" name="Marcador de número de diapositiva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23" name="Marcador de pie de página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rtlCol="0"/>
          <a:lstStyle>
            <a:lvl1pPr>
              <a:defRPr>
                <a:solidFill>
                  <a:schemeClr val="bg1"/>
                </a:solidFill>
              </a:defRPr>
            </a:lvl1pPr>
          </a:lstStyle>
          <a:p>
            <a:pPr rtl="0"/>
            <a:r>
              <a:rPr lang="es"/>
              <a:t>Texto de pie de página de ejemplo</a:t>
            </a:r>
          </a:p>
        </p:txBody>
      </p:sp>
      <p:sp>
        <p:nvSpPr>
          <p:cNvPr id="22" name="Marcador de fecha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rtlCol="0"/>
          <a:lstStyle>
            <a:lvl1pPr>
              <a:defRPr>
                <a:solidFill>
                  <a:schemeClr val="bg1"/>
                </a:solidFill>
              </a:defRPr>
            </a:lvl1pPr>
          </a:lstStyle>
          <a:p>
            <a:pPr rtl="0"/>
            <a:r>
              <a:rPr lang="en-US"/>
              <a:t>17/9/2025</a:t>
            </a:r>
          </a:p>
        </p:txBody>
      </p:sp>
      <p:cxnSp>
        <p:nvCxnSpPr>
          <p:cNvPr id="3" name="Conector recto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áfico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accent2"/>
                </a:solidFill>
              </a:endParaRPr>
            </a:p>
          </p:txBody>
        </p:sp>
        <p:sp>
          <p:nvSpPr>
            <p:cNvPr id="7" name="Gráfico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accent2"/>
                </a:solidFill>
              </a:endParaRPr>
            </a:p>
          </p:txBody>
        </p:sp>
        <p:sp>
          <p:nvSpPr>
            <p:cNvPr id="8" name="Gráfico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cxnSp>
        <p:nvCxnSpPr>
          <p:cNvPr id="15" name="Conector recto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ítulo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rtlCol="0" anchor="b">
            <a:noAutofit/>
          </a:bodyPr>
          <a:lstStyle/>
          <a:p>
            <a:pPr rtl="0"/>
            <a:r>
              <a:rPr lang="es"/>
              <a:t>Haga clic para modificar el estilo de título del patrón</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endParaRPr lang="en-US" dirty="0"/>
          </a:p>
        </p:txBody>
      </p:sp>
      <p:sp>
        <p:nvSpPr>
          <p:cNvPr id="19" name="Marcador de contenido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2">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áfico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3" name="Gráfico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9" name="Gráfico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7" name="Título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rtl="0"/>
            <a:r>
              <a:rPr lang="es"/>
              <a:t>Haga clic para modificar el estilo de título del patrón</a:t>
            </a:r>
          </a:p>
        </p:txBody>
      </p:sp>
      <p:sp>
        <p:nvSpPr>
          <p:cNvPr id="6" name="Subtítulo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rtl="0"/>
            <a:r>
              <a:rPr lang="es"/>
              <a:t>Haga clic para editar el estilo de subtítulo del patrón</a:t>
            </a:r>
          </a:p>
        </p:txBody>
      </p:sp>
      <p:sp>
        <p:nvSpPr>
          <p:cNvPr id="5" name="Marcador de número de diapositiva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rtlCol="0"/>
          <a:lstStyle>
            <a:lvl1pPr>
              <a:defRPr>
                <a:solidFill>
                  <a:schemeClr val="accent2"/>
                </a:solidFill>
              </a:defRPr>
            </a:lvl1pPr>
          </a:lstStyle>
          <a:p>
            <a:pPr rtl="0"/>
            <a:fld id="{AEAA3239-9EA4-4A65-A281-97F994456D9F}" type="slidenum">
              <a:rPr lang="en-US" smtClean="0"/>
              <a:pPr rtl="0"/>
              <a:t>‹Nº›</a:t>
            </a:fld>
            <a:endParaRPr lang="en-US"/>
          </a:p>
        </p:txBody>
      </p:sp>
      <p:sp>
        <p:nvSpPr>
          <p:cNvPr id="10" name="Marcador de pie de página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rtlCol="0"/>
          <a:lstStyle>
            <a:lvl1pPr>
              <a:defRPr>
                <a:solidFill>
                  <a:schemeClr val="bg1">
                    <a:lumMod val="65000"/>
                  </a:schemeClr>
                </a:solidFill>
              </a:defRPr>
            </a:lvl1pPr>
          </a:lstStyle>
          <a:p>
            <a:pPr rtl="0"/>
            <a:r>
              <a:rPr lang="es"/>
              <a:t>Texto de ejemplo para el pie de página</a:t>
            </a:r>
          </a:p>
        </p:txBody>
      </p:sp>
      <p:sp>
        <p:nvSpPr>
          <p:cNvPr id="9" name="Marcador de fecha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rtlCol="0"/>
          <a:lstStyle/>
          <a:p>
            <a:pPr rtl="0"/>
            <a:r>
              <a:rPr lang="en-US"/>
              <a:t>17/9/2025</a:t>
            </a:r>
          </a:p>
        </p:txBody>
      </p:sp>
      <p:cxnSp>
        <p:nvCxnSpPr>
          <p:cNvPr id="4" name="Conector recto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upo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áfico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31" name="Gráfico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32" name="Gráfico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
        <p:nvSpPr>
          <p:cNvPr id="8" name="Título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rtl="0"/>
            <a:r>
              <a:rPr lang="es"/>
              <a:t>Haga clic para modificar el estilo de título del patrón</a:t>
            </a:r>
          </a:p>
        </p:txBody>
      </p:sp>
      <p:sp>
        <p:nvSpPr>
          <p:cNvPr id="7" name="Subtítulo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rtl="0"/>
            <a:r>
              <a:rPr lang="es"/>
              <a:t>Haga clic para editar el estilo de subtítulo del patrón</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rtlCol="0"/>
          <a:lstStyle>
            <a:lvl1pPr>
              <a:defRPr>
                <a:solidFill>
                  <a:schemeClr val="bg1"/>
                </a:solidFill>
              </a:defRPr>
            </a:lvl1pPr>
          </a:lstStyle>
          <a:p>
            <a:pPr rtl="0"/>
            <a:r>
              <a:rPr lang="es"/>
              <a:t>Texto de pie de página de ejemplo</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lvl1pPr>
              <a:defRPr>
                <a:solidFill>
                  <a:schemeClr val="bg1"/>
                </a:solidFill>
              </a:defRPr>
            </a:lvl1pPr>
          </a:lstStyle>
          <a:p>
            <a:pPr rtl="0"/>
            <a:r>
              <a:rPr lang="en-US"/>
              <a:t>17/9/2025</a:t>
            </a:r>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con imagen">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áfico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Gráfico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Gráfico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6" name="Rectángulo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rtl="0"/>
            <a:r>
              <a:rPr lang="es"/>
              <a:t>Haga clic para editar el estilo de subtítulo del patrón</a:t>
            </a:r>
          </a:p>
        </p:txBody>
      </p:sp>
      <p:sp>
        <p:nvSpPr>
          <p:cNvPr id="16" name="Marcador de posición de imagen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8" name="Marcador de pie de página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rtlCol="0"/>
          <a:lstStyle/>
          <a:p>
            <a:pPr rtl="0"/>
            <a:r>
              <a:rPr lang="es"/>
              <a:t>Texto de pie de página de ejemplo</a:t>
            </a:r>
          </a:p>
        </p:txBody>
      </p:sp>
      <p:sp>
        <p:nvSpPr>
          <p:cNvPr id="7" name="Marcador de fecha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17/9/2025</a:t>
            </a:r>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con imagen 2">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Título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rtl="0"/>
            <a:r>
              <a:rPr lang="es"/>
              <a:t>Haga clic para modificar el estilo de título del patrón</a:t>
            </a:r>
          </a:p>
        </p:txBody>
      </p:sp>
      <p:sp>
        <p:nvSpPr>
          <p:cNvPr id="17" name="Subtítulo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rtl="0"/>
            <a:r>
              <a:rPr lang="es"/>
              <a:t>Haga clic para editar el estilo de subtítulo del patrón</a:t>
            </a:r>
          </a:p>
        </p:txBody>
      </p:sp>
      <p:sp>
        <p:nvSpPr>
          <p:cNvPr id="9" name="Marcador de posición de imagen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13" name="Marcador de pie de página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rtlCol="0"/>
          <a:lstStyle/>
          <a:p>
            <a:pPr rtl="0"/>
            <a:r>
              <a:rPr lang="es"/>
              <a:t>Ejemplo de Texto de pie de página</a:t>
            </a:r>
          </a:p>
        </p:txBody>
      </p:sp>
      <p:sp>
        <p:nvSpPr>
          <p:cNvPr id="12" name="Marcador de fecha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rtlCol="0"/>
          <a:lstStyle>
            <a:lvl1pPr>
              <a:defRPr>
                <a:solidFill>
                  <a:schemeClr val="tx1"/>
                </a:solidFill>
                <a:effectLst/>
              </a:defRPr>
            </a:lvl1pPr>
          </a:lstStyle>
          <a:p>
            <a:pPr rtl="0"/>
            <a:r>
              <a:rPr lang="en-US"/>
              <a:t>17/9/2025</a:t>
            </a:r>
          </a:p>
        </p:txBody>
      </p:sp>
      <p:sp>
        <p:nvSpPr>
          <p:cNvPr id="15" name="Marcador de número de diapositiva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rtlCol="0"/>
          <a:lstStyle/>
          <a:p>
            <a:pPr rtl="0"/>
            <a:fld id="{AEAA3239-9EA4-4A65-A281-97F994456D9F}" type="slidenum">
              <a:rPr lang="en-US" smtClean="0"/>
              <a:t>‹Nº›</a:t>
            </a:fld>
            <a:endParaRPr lang="en-US"/>
          </a:p>
        </p:txBody>
      </p:sp>
      <p:grpSp>
        <p:nvGrpSpPr>
          <p:cNvPr id="2" name="Grupo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áfico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4" name="Gráfico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5" name="Gráfico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con imagen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rtl="0"/>
            <a:r>
              <a:rPr lang="es"/>
              <a:t>Haga clic para editar el estilo de subtítulo del patrón</a:t>
            </a:r>
          </a:p>
        </p:txBody>
      </p:sp>
      <p:sp>
        <p:nvSpPr>
          <p:cNvPr id="70" name="Marcador de posición de imagen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rtlCol="0" anchor="t">
            <a:noAutofit/>
          </a:bodyPr>
          <a:lstStyle>
            <a:lvl1pPr algn="ctr">
              <a:buNone/>
              <a:defRPr sz="1600" b="0" i="0">
                <a:solidFill>
                  <a:schemeClr val="tx1"/>
                </a:solidFill>
                <a:latin typeface="+mn-lt"/>
              </a:defRPr>
            </a:lvl1pPr>
          </a:lstStyle>
          <a:p>
            <a:pPr rtl="0"/>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rtlCol="0"/>
          <a:lstStyle>
            <a:lvl1pPr>
              <a:defRPr>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rtlCol="0"/>
          <a:lstStyle>
            <a:lvl1pPr>
              <a:defRPr>
                <a:solidFill>
                  <a:schemeClr val="bg1"/>
                </a:solidFill>
                <a:effectLst/>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rtlCol="0"/>
          <a:lstStyle>
            <a:lvl1pPr>
              <a:defRPr>
                <a:solidFill>
                  <a:schemeClr val="bg1"/>
                </a:solidFill>
              </a:defRPr>
            </a:lvl1pPr>
          </a:lstStyle>
          <a:p>
            <a:pPr rtl="0"/>
            <a:fld id="{AEAA3239-9EA4-4A65-A281-97F994456D9F}" type="slidenum">
              <a:rPr lang="en-US" smtClean="0"/>
              <a:pPr rtl="0"/>
              <a:t>‹Nº›</a:t>
            </a:fld>
            <a:endParaRPr lang="en-US"/>
          </a:p>
        </p:txBody>
      </p:sp>
      <p:grpSp>
        <p:nvGrpSpPr>
          <p:cNvPr id="71" name="Grupo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áfico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73" name="Gráfico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74" name="Gráfico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con imagen 4">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2" name="Título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rtl="0"/>
            <a:r>
              <a:rPr lang="es"/>
              <a:t>Haga clic para modificar el estilo de título del patrón</a:t>
            </a:r>
          </a:p>
        </p:txBody>
      </p:sp>
      <p:sp>
        <p:nvSpPr>
          <p:cNvPr id="43" name="Subtítulo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rtl="0"/>
            <a:r>
              <a:rPr lang="es"/>
              <a:t>Haga clic para editar el estilo de subtítulo del patrón</a:t>
            </a:r>
          </a:p>
        </p:txBody>
      </p:sp>
      <p:sp>
        <p:nvSpPr>
          <p:cNvPr id="15" name="Marcador de pie de página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rtlCol="0"/>
          <a:lstStyle/>
          <a:p>
            <a:pPr rtl="0"/>
            <a:r>
              <a:rPr lang="es"/>
              <a:t>Ejemplo de Texto de pie de página</a:t>
            </a:r>
          </a:p>
        </p:txBody>
      </p:sp>
      <p:sp>
        <p:nvSpPr>
          <p:cNvPr id="14" name="Marcador de fecha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rtlCol="0"/>
          <a:lstStyle>
            <a:lvl1pPr>
              <a:defRPr>
                <a:solidFill>
                  <a:schemeClr val="bg1">
                    <a:lumMod val="65000"/>
                  </a:schemeClr>
                </a:solidFill>
                <a:effectLst/>
              </a:defRPr>
            </a:lvl1pPr>
          </a:lstStyle>
          <a:p>
            <a:pPr rtl="0"/>
            <a:r>
              <a:rPr lang="en-US"/>
              <a:t>17/9/2025</a:t>
            </a:r>
          </a:p>
        </p:txBody>
      </p:sp>
      <p:sp>
        <p:nvSpPr>
          <p:cNvPr id="16" name="Marcador de número de diapositiva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rtlCol="0"/>
          <a:lstStyle/>
          <a:p>
            <a:pPr rtl="0"/>
            <a:fld id="{AEAA3239-9EA4-4A65-A281-97F994456D9F}" type="slidenum">
              <a:rPr lang="en-US" smtClean="0"/>
              <a:t>‹Nº›</a:t>
            </a:fld>
            <a:endParaRPr lang="en-US"/>
          </a:p>
        </p:txBody>
      </p:sp>
      <p:sp>
        <p:nvSpPr>
          <p:cNvPr id="20" name="Marcador de posición de imagen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rtlCol="0"/>
          <a:lstStyle>
            <a:lvl1pPr marL="0" indent="0">
              <a:buNone/>
              <a:defRPr/>
            </a:lvl1pPr>
          </a:lstStyle>
          <a:p>
            <a:pPr rtl="0"/>
            <a:r>
              <a:rPr lang="es"/>
              <a:t>   </a:t>
            </a:r>
          </a:p>
        </p:txBody>
      </p:sp>
      <p:grpSp>
        <p:nvGrpSpPr>
          <p:cNvPr id="2" name="Grupo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áfico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5" name="Gráfico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6" name="Gráfico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cabezado de sección">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rtl="0"/>
            <a:r>
              <a:rPr lang="es"/>
              <a:t>Encabezado de sección</a:t>
            </a:r>
          </a:p>
        </p:txBody>
      </p:sp>
      <p:sp>
        <p:nvSpPr>
          <p:cNvPr id="8" name="Marcador de número de diapositiva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rtl="0"/>
              <a:t>‹Nº›</a:t>
            </a:fld>
            <a:endParaRPr lang="en-US"/>
          </a:p>
        </p:txBody>
      </p:sp>
      <p:sp>
        <p:nvSpPr>
          <p:cNvPr id="7" name="Marcador de pie de página 6">
            <a:extLst>
              <a:ext uri="{FF2B5EF4-FFF2-40B4-BE49-F238E27FC236}">
                <a16:creationId xmlns:a16="http://schemas.microsoft.com/office/drawing/2014/main" id="{0F88A337-5DA0-D43A-9171-0BE54F3B9861}"/>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3" name="Marcador de fecha 2">
            <a:extLst>
              <a:ext uri="{FF2B5EF4-FFF2-40B4-BE49-F238E27FC236}">
                <a16:creationId xmlns:a16="http://schemas.microsoft.com/office/drawing/2014/main" id="{DE5E48CF-6B97-2628-4E35-BBA37CF30176}"/>
              </a:ext>
            </a:extLst>
          </p:cNvPr>
          <p:cNvSpPr>
            <a:spLocks noGrp="1"/>
          </p:cNvSpPr>
          <p:nvPr>
            <p:ph type="dt" sz="half" idx="10"/>
          </p:nvPr>
        </p:nvSpPr>
        <p:spPr/>
        <p:txBody>
          <a:bodyPr rtlCol="0"/>
          <a:lstStyle>
            <a:lvl1pPr>
              <a:defRPr>
                <a:solidFill>
                  <a:schemeClr val="tx1"/>
                </a:solidFill>
              </a:defRPr>
            </a:lvl1pPr>
          </a:lstStyle>
          <a:p>
            <a:pPr rtl="0"/>
            <a:r>
              <a:rPr lang="en-US"/>
              <a:t>17/9/2025</a:t>
            </a:r>
          </a:p>
        </p:txBody>
      </p:sp>
      <p:grpSp>
        <p:nvGrpSpPr>
          <p:cNvPr id="4" name="Grupo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áfico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6" name="Gráfico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0" name="Gráfico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cxnSp>
        <p:nvCxnSpPr>
          <p:cNvPr id="11" name="Conector recto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rtlCol="0" anchor="b">
            <a:normAutofit/>
          </a:bodyPr>
          <a:lstStyle>
            <a:lvl1pPr>
              <a:defRPr sz="6000">
                <a:solidFill>
                  <a:schemeClr val="bg2"/>
                </a:solidFill>
              </a:defRPr>
            </a:lvl1pPr>
          </a:lstStyle>
          <a:p>
            <a:pPr rtl="0"/>
            <a:r>
              <a:rPr lang="es"/>
              <a:t>Agenda</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rtlCol="0">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lvl1pPr>
              <a:defRPr>
                <a:solidFill>
                  <a:schemeClr val="bg1"/>
                </a:solidFill>
              </a:defRPr>
            </a:lvl1pPr>
          </a:lstStyle>
          <a:p>
            <a:pPr rtl="0"/>
            <a:r>
              <a:rPr lang="es"/>
              <a:t>Texto de ejemplo para el pie de página</a:t>
            </a:r>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lvl1pPr>
              <a:defRPr>
                <a:solidFill>
                  <a:schemeClr val="bg1"/>
                </a:solidFill>
              </a:defRPr>
            </a:lvl1pPr>
          </a:lstStyle>
          <a:p>
            <a:pPr rtl="0"/>
            <a:r>
              <a:rPr lang="en-US"/>
              <a:t>17/9/2025</a:t>
            </a:r>
          </a:p>
        </p:txBody>
      </p:sp>
      <p:grpSp>
        <p:nvGrpSpPr>
          <p:cNvPr id="32" name="Grupo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áfico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34" name="Gráfico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35" name="Gráfico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cxnSp>
        <p:nvCxnSpPr>
          <p:cNvPr id="6" name="Conector recto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con imagen">
    <p:spTree>
      <p:nvGrpSpPr>
        <p:cNvPr id="1" name=""/>
        <p:cNvGrpSpPr/>
        <p:nvPr/>
      </p:nvGrpSpPr>
      <p:grpSpPr>
        <a:xfrm>
          <a:off x="0" y="0"/>
          <a:ext cx="0" cy="0"/>
          <a:chOff x="0" y="0"/>
          <a:chExt cx="0" cy="0"/>
        </a:xfrm>
      </p:grpSpPr>
      <p:sp>
        <p:nvSpPr>
          <p:cNvPr id="22" name="Título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rtlCol="0" anchor="b">
            <a:normAutofit/>
          </a:bodyPr>
          <a:lstStyle>
            <a:lvl1pPr>
              <a:defRPr sz="6000">
                <a:solidFill>
                  <a:schemeClr val="tx2"/>
                </a:solidFill>
              </a:defRPr>
            </a:lvl1pPr>
          </a:lstStyle>
          <a:p>
            <a:pPr rtl="0"/>
            <a:r>
              <a:rPr lang="es"/>
              <a:t>Agenda</a:t>
            </a:r>
          </a:p>
        </p:txBody>
      </p:sp>
      <p:sp>
        <p:nvSpPr>
          <p:cNvPr id="17" name="Marcador de número de diapositiva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rtlCol="0"/>
          <a:lstStyle>
            <a:lvl1pPr>
              <a:defRPr>
                <a:solidFill>
                  <a:schemeClr val="accent2"/>
                </a:solidFill>
              </a:defRPr>
            </a:lvl1pPr>
          </a:lstStyle>
          <a:p>
            <a:pPr rtl="0"/>
            <a:fld id="{AEAA3239-9EA4-4A65-A281-97F994456D9F}" type="slidenum">
              <a:rPr lang="en-US" smtClean="0"/>
              <a:pPr rtl="0"/>
              <a:t>‹Nº›</a:t>
            </a:fld>
            <a:endParaRPr lang="en-US"/>
          </a:p>
        </p:txBody>
      </p:sp>
      <p:sp>
        <p:nvSpPr>
          <p:cNvPr id="43" name="Marcador de posición de imagen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rtlCol="0" anchor="t">
            <a:noAutofit/>
          </a:bodyPr>
          <a:lstStyle>
            <a:lvl1pPr algn="ctr">
              <a:buNone/>
              <a:defRPr sz="1600" b="0" i="0">
                <a:solidFill>
                  <a:schemeClr val="tx1"/>
                </a:solidFill>
                <a:latin typeface="+mn-lt"/>
              </a:defRPr>
            </a:lvl1pPr>
          </a:lstStyle>
          <a:p>
            <a:pPr rtl="0"/>
            <a:r>
              <a:rPr lang="es"/>
              <a:t>  </a:t>
            </a:r>
          </a:p>
        </p:txBody>
      </p:sp>
      <p:sp>
        <p:nvSpPr>
          <p:cNvPr id="21" name="Marcador de contenido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rtlCol="0">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rtlCol="0"/>
          <a:lstStyle/>
          <a:p>
            <a:pPr rtl="0"/>
            <a:r>
              <a:rPr lang="en-US"/>
              <a:t>17/9/2025</a:t>
            </a:r>
          </a:p>
        </p:txBody>
      </p:sp>
      <p:grpSp>
        <p:nvGrpSpPr>
          <p:cNvPr id="44" name="Grupo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áfico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6" name="Gráfico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47" name="Gráfico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cxnSp>
        <p:nvCxnSpPr>
          <p:cNvPr id="2" name="Conector recto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2">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rtlCol="0"/>
          <a:lstStyle/>
          <a:p>
            <a:pPr rtl="0"/>
            <a:r>
              <a:rPr lang="es"/>
              <a:t>Haga clic para modificar el estilo de título del patrón</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16" name="Marcador de contenido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p>
        </p:txBody>
      </p:sp>
      <p:grpSp>
        <p:nvGrpSpPr>
          <p:cNvPr id="12" name="Grupo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áfico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4" name="Gráfico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5" name="Gráfico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7" name="Conector recto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i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rtlCol="0" anchor="b" anchorCtr="0">
            <a:noAutofit/>
          </a:bodyPr>
          <a:lstStyle>
            <a:lvl1pPr>
              <a:defRPr sz="4000"/>
            </a:lvl1pPr>
          </a:lstStyle>
          <a:p>
            <a:pPr rtl="0"/>
            <a:r>
              <a:rPr lang="es"/>
              <a:t>Haga clic para modificar el estilo de título del patrón</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p>
        </p:txBody>
      </p:sp>
      <p:grpSp>
        <p:nvGrpSpPr>
          <p:cNvPr id="16" name="Grupo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áfico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8" name="Gráfico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9" name="Gráfico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7" name="Conector recto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i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rtlCol="0" anchor="b" anchorCtr="0">
            <a:noAutofit/>
          </a:bodyPr>
          <a:lstStyle>
            <a:lvl1pPr>
              <a:defRPr sz="4000"/>
            </a:lvl1pPr>
          </a:lstStyle>
          <a:p>
            <a:pPr rtl="0"/>
            <a:r>
              <a:rPr lang="es"/>
              <a:t>Haga clic para modificar el estilo de título del patrón</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9" name="Marcador de contenido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p>
        </p:txBody>
      </p:sp>
      <p:grpSp>
        <p:nvGrpSpPr>
          <p:cNvPr id="17" name="Grupo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áfico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9" name="Gráfico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20" name="Gráfico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3" name="Conector recto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ido 5">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rtlCol="0" anchor="b" anchorCtr="0">
            <a:noAutofit/>
          </a:bodyPr>
          <a:lstStyle>
            <a:lvl1pPr>
              <a:defRPr sz="4000"/>
            </a:lvl1pPr>
          </a:lstStyle>
          <a:p>
            <a:pPr rtl="0"/>
            <a:r>
              <a:rPr lang="es"/>
              <a:t>Haga clic para modificar el estilo de título del patrón</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7" name="Marcador de contenido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p>
        </p:txBody>
      </p:sp>
      <p:cxnSp>
        <p:nvCxnSpPr>
          <p:cNvPr id="2" name="Conector recto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áfico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Gráfico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Gráfico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6">
    <p:spTree>
      <p:nvGrpSpPr>
        <p:cNvPr id="1" name=""/>
        <p:cNvGrpSpPr/>
        <p:nvPr/>
      </p:nvGrpSpPr>
      <p:grpSpPr>
        <a:xfrm>
          <a:off x="0" y="0"/>
          <a:ext cx="0" cy="0"/>
          <a:chOff x="0" y="0"/>
          <a:chExt cx="0" cy="0"/>
        </a:xfrm>
      </p:grpSpPr>
      <p:sp>
        <p:nvSpPr>
          <p:cNvPr id="15" name="Título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rtlCol="0" anchor="b" anchorCtr="0">
            <a:noAutofit/>
          </a:bodyPr>
          <a:lstStyle>
            <a:lvl1pPr>
              <a:defRPr sz="4000"/>
            </a:lvl1pPr>
          </a:lstStyle>
          <a:p>
            <a:pPr rtl="0"/>
            <a:r>
              <a:rPr lang="es"/>
              <a:t>Haga clic para modificar el estilo de título del patrón</a:t>
            </a:r>
          </a:p>
        </p:txBody>
      </p:sp>
      <p:sp>
        <p:nvSpPr>
          <p:cNvPr id="12" name="Marcador de número de diapositiva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rtlCol="0"/>
          <a:lstStyle/>
          <a:p>
            <a:pPr rtl="0"/>
            <a:fld id="{AEAA3239-9EA4-4A65-A281-97F994456D9F}" type="slidenum">
              <a:rPr lang="en-US" smtClean="0"/>
              <a:t>‹Nº›</a:t>
            </a:fld>
            <a:endParaRPr lang="en-US"/>
          </a:p>
        </p:txBody>
      </p:sp>
      <p:sp>
        <p:nvSpPr>
          <p:cNvPr id="7" name="Marcador de contenido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17/9/2025</a:t>
            </a:r>
          </a:p>
        </p:txBody>
      </p:sp>
      <p:cxnSp>
        <p:nvCxnSpPr>
          <p:cNvPr id="2" name="Conector recto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áfico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Gráfico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Gráfico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con imagen">
    <p:spTree>
      <p:nvGrpSpPr>
        <p:cNvPr id="1" name=""/>
        <p:cNvGrpSpPr/>
        <p:nvPr/>
      </p:nvGrpSpPr>
      <p:grpSpPr>
        <a:xfrm>
          <a:off x="0" y="0"/>
          <a:ext cx="0" cy="0"/>
          <a:chOff x="0" y="0"/>
          <a:chExt cx="0" cy="0"/>
        </a:xfrm>
      </p:grpSpPr>
      <p:sp>
        <p:nvSpPr>
          <p:cNvPr id="20" name="Título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rtlCol="0" anchor="b">
            <a:noAutofit/>
          </a:bodyPr>
          <a:lstStyle/>
          <a:p>
            <a:pPr rtl="0"/>
            <a:r>
              <a:rPr lang="es"/>
              <a:t>Haga clic para modificar el estilo de título del patrón</a:t>
            </a:r>
          </a:p>
        </p:txBody>
      </p:sp>
      <p:sp>
        <p:nvSpPr>
          <p:cNvPr id="21" name="Rectángulo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Marcador de posición de imagen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16" name="Marcador de contenido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rtlCol="0"/>
          <a:lstStyle/>
          <a:p>
            <a:pPr rtl="0"/>
            <a:r>
              <a:rPr lang="es"/>
              <a:t>Muestra de texto de pie de página</a:t>
            </a:r>
          </a:p>
        </p:txBody>
      </p:sp>
      <p:sp>
        <p:nvSpPr>
          <p:cNvPr id="4" name="Marcador de fecha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rtlCol="0"/>
          <a:lstStyle/>
          <a:p>
            <a:pPr rtl="0"/>
            <a:r>
              <a:rPr lang="en-US"/>
              <a:t>17/9/2025</a:t>
            </a:r>
          </a:p>
        </p:txBody>
      </p:sp>
      <p:sp>
        <p:nvSpPr>
          <p:cNvPr id="27" name="Marcador de número de diapositiva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rtlCol="0"/>
          <a:lstStyle/>
          <a:p>
            <a:pPr rtl="0"/>
            <a:fld id="{AEAA3239-9EA4-4A65-A281-97F994456D9F}" type="slidenum">
              <a:rPr lang="en-US" smtClean="0"/>
              <a:t>‹Nº›</a:t>
            </a:fld>
            <a:endParaRPr lang="en-US"/>
          </a:p>
        </p:txBody>
      </p:sp>
      <p:grpSp>
        <p:nvGrpSpPr>
          <p:cNvPr id="23" name="Grupo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áfico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25" name="Gráfico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26" name="Gráfico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ido con imagen 2">
    <p:spTree>
      <p:nvGrpSpPr>
        <p:cNvPr id="1" name=""/>
        <p:cNvGrpSpPr/>
        <p:nvPr/>
      </p:nvGrpSpPr>
      <p:grpSpPr>
        <a:xfrm>
          <a:off x="0" y="0"/>
          <a:ext cx="0" cy="0"/>
          <a:chOff x="0" y="0"/>
          <a:chExt cx="0" cy="0"/>
        </a:xfrm>
      </p:grpSpPr>
      <p:sp>
        <p:nvSpPr>
          <p:cNvPr id="28" name="Título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rtlCol="0" anchor="b">
            <a:noAutofit/>
          </a:body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ie de página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rtlCol="0"/>
          <a:lstStyle/>
          <a:p>
            <a:pPr rtl="0"/>
            <a:r>
              <a:rPr lang="es"/>
              <a:t>Muestra de texto de pie de página</a:t>
            </a:r>
          </a:p>
        </p:txBody>
      </p:sp>
      <p:sp>
        <p:nvSpPr>
          <p:cNvPr id="9" name="Marcador de fecha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rtlCol="0"/>
          <a:lstStyle/>
          <a:p>
            <a:pPr rtl="0"/>
            <a:r>
              <a:rPr lang="en-US"/>
              <a:t>17/9/2025</a:t>
            </a:r>
          </a:p>
        </p:txBody>
      </p:sp>
      <p:sp>
        <p:nvSpPr>
          <p:cNvPr id="12" name="Marcador de número de diapositiva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rtlCol="0"/>
          <a:lstStyle/>
          <a:p>
            <a:pPr rtl="0"/>
            <a:fld id="{AEAA3239-9EA4-4A65-A281-97F994456D9F}" type="slidenum">
              <a:rPr lang="en-US" smtClean="0"/>
              <a:t>‹Nº›</a:t>
            </a:fld>
            <a:endParaRPr lang="en-US"/>
          </a:p>
        </p:txBody>
      </p:sp>
      <p:sp>
        <p:nvSpPr>
          <p:cNvPr id="6" name="Rectángulo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Marcador de posición de imagen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rtlCol="0"/>
          <a:lstStyle>
            <a:lvl1pPr marL="0" indent="0">
              <a:buNone/>
              <a:defRPr/>
            </a:lvl1pPr>
          </a:lstStyle>
          <a:p>
            <a:pPr rtl="0"/>
            <a:r>
              <a:rPr lang="es"/>
              <a:t>  </a:t>
            </a:r>
          </a:p>
        </p:txBody>
      </p:sp>
      <p:grpSp>
        <p:nvGrpSpPr>
          <p:cNvPr id="2" name="Grupo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áfico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Gráfico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Gráfico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ido con imagen 3">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áfico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2" name="Gráfico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3" name="Gráfico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21" name="Rectángulo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Título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rtlCol="0" anchor="b">
            <a:noAutofit/>
          </a:bodyPr>
          <a:lstStyle/>
          <a:p>
            <a:pPr rtl="0"/>
            <a:r>
              <a:rPr lang="es"/>
              <a:t>Haga clic para modificar el estilo de título del patrón</a:t>
            </a:r>
          </a:p>
        </p:txBody>
      </p:sp>
      <p:sp>
        <p:nvSpPr>
          <p:cNvPr id="22" name="Marcador de posición de imagen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rtlCol="0"/>
          <a:lstStyle>
            <a:lvl1pPr marL="0" indent="0">
              <a:buNone/>
              <a:defRPr/>
            </a:lvl1pPr>
          </a:lstStyle>
          <a:p>
            <a:pPr rtl="0"/>
            <a:r>
              <a:rPr lang="es"/>
              <a:t>  </a:t>
            </a:r>
          </a:p>
        </p:txBody>
      </p:sp>
      <p:sp>
        <p:nvSpPr>
          <p:cNvPr id="24" name="Marcador de contenido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8" name="Marcador de pie de página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rtlCol="0"/>
          <a:lstStyle/>
          <a:p>
            <a:pPr rtl="0"/>
            <a:r>
              <a:rPr lang="es"/>
              <a:t>Muestra de texto de pie de página</a:t>
            </a:r>
          </a:p>
        </p:txBody>
      </p:sp>
      <p:sp>
        <p:nvSpPr>
          <p:cNvPr id="19" name="Marcador de fecha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rtlCol="0"/>
          <a:lstStyle/>
          <a:p>
            <a:pPr rtl="0"/>
            <a:r>
              <a:rPr lang="en-US"/>
              <a:t>17/9/2025</a:t>
            </a:r>
          </a:p>
        </p:txBody>
      </p:sp>
      <p:sp>
        <p:nvSpPr>
          <p:cNvPr id="20" name="Marcador de número de diapositiva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image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rtlCol="0" anchor="b">
            <a:noAutofit/>
          </a:body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rtlCol="0"/>
          <a:lstStyle/>
          <a:p>
            <a:pPr rtl="0"/>
            <a:r>
              <a:rPr lang="es"/>
              <a:t>Muestra de texto de pie de página</a:t>
            </a:r>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rtlCol="0"/>
          <a:lstStyle/>
          <a:p>
            <a:pPr rtl="0"/>
            <a:fld id="{AEAA3239-9EA4-4A65-A281-97F994456D9F}" type="slidenum">
              <a:rPr lang="en-US" smtClean="0"/>
              <a:t>‹Nº›</a:t>
            </a:fld>
            <a:endParaRPr lang="en-US"/>
          </a:p>
        </p:txBody>
      </p:sp>
      <p:sp>
        <p:nvSpPr>
          <p:cNvPr id="3" name="Rectángulo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Marcador de posición de imagen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rtlCol="0"/>
          <a:lstStyle>
            <a:lvl1pPr marL="0" indent="0">
              <a:buNone/>
              <a:defRPr/>
            </a:lvl1pPr>
          </a:lstStyle>
          <a:p>
            <a:pPr rtl="0"/>
            <a:r>
              <a:rPr lang="es"/>
              <a:t>  </a:t>
            </a:r>
          </a:p>
        </p:txBody>
      </p:sp>
      <p:grpSp>
        <p:nvGrpSpPr>
          <p:cNvPr id="12" name="Grupo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áfico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4" name="Gráfico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5" name="Gráfico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ido con imagen 5">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21" name="Grupo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áfico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23" name="Gráfico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24" name="Gráfico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5" name="Título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rtlCol="0" anchor="b">
            <a:noAutofit/>
          </a:bodyPr>
          <a:lstStyle>
            <a:lvl1pPr>
              <a:defRPr sz="4000"/>
            </a:lvl1pPr>
          </a:lstStyle>
          <a:p>
            <a:pPr rtl="0"/>
            <a:r>
              <a:rPr lang="es"/>
              <a:t>Haga clic para modificar el estilo de título del patrón</a:t>
            </a:r>
          </a:p>
        </p:txBody>
      </p:sp>
      <p:sp>
        <p:nvSpPr>
          <p:cNvPr id="18" name="Marcador de posición de imagen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rtlCol="0"/>
          <a:lstStyle>
            <a:lvl1pPr marL="0" indent="0">
              <a:buNone/>
              <a:defRPr/>
            </a:lvl1pPr>
          </a:lstStyle>
          <a:p>
            <a:pPr rtl="0"/>
            <a:r>
              <a:rPr lang="es"/>
              <a:t>  </a:t>
            </a:r>
          </a:p>
        </p:txBody>
      </p:sp>
      <p:sp>
        <p:nvSpPr>
          <p:cNvPr id="26" name="Marcador de contenido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rtlCol="0"/>
          <a:lstStyle>
            <a:lvl1pPr>
              <a:defRPr>
                <a:solidFill>
                  <a:schemeClr val="tx1"/>
                </a:solidFill>
                <a:effectLst/>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ido con imagen 6">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Título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rtlCol="0" anchor="b">
            <a:noAutofit/>
          </a:bodyPr>
          <a:lstStyle>
            <a:lvl1pPr>
              <a:defRPr sz="4000"/>
            </a:lvl1pPr>
          </a:lstStyle>
          <a:p>
            <a:pPr rtl="0"/>
            <a:r>
              <a:rPr lang="es"/>
              <a:t>Haga clic para modificar el estilo de título del patrón</a:t>
            </a:r>
          </a:p>
        </p:txBody>
      </p:sp>
      <p:sp>
        <p:nvSpPr>
          <p:cNvPr id="13" name="Marcador de contenido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5" name="Marcador de pie de página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rtlCol="0"/>
          <a:lstStyle/>
          <a:p>
            <a:pPr rtl="0"/>
            <a:r>
              <a:rPr lang="es"/>
              <a:t>Ejemplo de Texto de pie de página</a:t>
            </a:r>
          </a:p>
        </p:txBody>
      </p:sp>
      <p:sp>
        <p:nvSpPr>
          <p:cNvPr id="14" name="Marcador de fecha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rtlCol="0"/>
          <a:lstStyle>
            <a:lvl1pPr>
              <a:defRPr>
                <a:solidFill>
                  <a:schemeClr val="tx1"/>
                </a:solidFill>
                <a:effectLst/>
              </a:defRPr>
            </a:lvl1pPr>
          </a:lstStyle>
          <a:p>
            <a:pPr rtl="0"/>
            <a:r>
              <a:rPr lang="en-US"/>
              <a:t>17/9/2025</a:t>
            </a:r>
          </a:p>
        </p:txBody>
      </p:sp>
      <p:sp>
        <p:nvSpPr>
          <p:cNvPr id="16" name="Marcador de número de diapositiva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rtlCol="0"/>
          <a:lstStyle/>
          <a:p>
            <a:pPr rtl="0"/>
            <a:fld id="{AEAA3239-9EA4-4A65-A281-97F994456D9F}" type="slidenum">
              <a:rPr lang="en-US" smtClean="0"/>
              <a:t>‹Nº›</a:t>
            </a:fld>
            <a:endParaRPr lang="en-US" dirty="0"/>
          </a:p>
        </p:txBody>
      </p:sp>
      <p:sp>
        <p:nvSpPr>
          <p:cNvPr id="10" name="Marcador de posición de imagen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rtlCol="0"/>
          <a:lstStyle>
            <a:lvl1pPr marL="0" indent="0">
              <a:buNone/>
              <a:defRPr/>
            </a:lvl1pPr>
          </a:lstStyle>
          <a:p>
            <a:pPr rtl="0"/>
            <a:r>
              <a:rPr lang="es"/>
              <a:t>  </a:t>
            </a:r>
          </a:p>
        </p:txBody>
      </p:sp>
      <p:grpSp>
        <p:nvGrpSpPr>
          <p:cNvPr id="2" name="Grupo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áfico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Gráfico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Gráfico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ido con imagen 7">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Título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rtlCol="0" anchor="b">
            <a:noAutofit/>
          </a:bodyPr>
          <a:lstStyle>
            <a:lvl1pPr>
              <a:defRPr sz="4000"/>
            </a:lvl1pPr>
          </a:lstStyle>
          <a:p>
            <a:pPr rtl="0"/>
            <a:r>
              <a:rPr lang="es"/>
              <a:t>Haga clic para modificar el estilo de título del patrón</a:t>
            </a:r>
          </a:p>
        </p:txBody>
      </p:sp>
      <p:sp>
        <p:nvSpPr>
          <p:cNvPr id="14" name="Marcador de posición de imagen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rtlCol="0"/>
          <a:lstStyle>
            <a:lvl1pPr marL="0" indent="0">
              <a:buNone/>
              <a:defRPr/>
            </a:lvl1pPr>
          </a:lstStyle>
          <a:p>
            <a:pPr rtl="0"/>
            <a:r>
              <a:rPr lang="es"/>
              <a:t>  </a:t>
            </a:r>
          </a:p>
        </p:txBody>
      </p:sp>
      <p:sp>
        <p:nvSpPr>
          <p:cNvPr id="12" name="Marcador de contenido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rtlCol="0"/>
          <a:lstStyle/>
          <a:p>
            <a:pPr rtl="0"/>
            <a:r>
              <a:rPr lang="es"/>
              <a:t>Muestra de texto de pie de página</a:t>
            </a:r>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rtlCol="0"/>
          <a:lstStyle/>
          <a:p>
            <a:pPr rtl="0"/>
            <a:fld id="{AEAA3239-9EA4-4A65-A281-97F994456D9F}" type="slidenum">
              <a:rPr lang="en-US" smtClean="0"/>
              <a:t>‹Nº›</a:t>
            </a:fld>
            <a:endParaRPr lang="en-US"/>
          </a:p>
        </p:txBody>
      </p:sp>
      <p:grpSp>
        <p:nvGrpSpPr>
          <p:cNvPr id="15" name="Grupo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áfico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17" name="Gráfico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18" name="Gráfico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ido con imagen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rtlCol="0" anchor="b">
            <a:noAutofit/>
          </a:bodyPr>
          <a:lstStyle>
            <a:lvl1pPr>
              <a:defRPr sz="40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rtlCol="0"/>
          <a:lstStyle/>
          <a:p>
            <a:pPr rtl="0"/>
            <a:r>
              <a:rPr lang="es"/>
              <a:t>Muestra de texto de pie de página</a:t>
            </a:r>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rtlCol="0"/>
          <a:lstStyle/>
          <a:p>
            <a:pPr rtl="0"/>
            <a:fld id="{AEAA3239-9EA4-4A65-A281-97F994456D9F}" type="slidenum">
              <a:rPr lang="en-US" smtClean="0"/>
              <a:t>‹Nº›</a:t>
            </a:fld>
            <a:endParaRPr lang="en-US"/>
          </a:p>
        </p:txBody>
      </p:sp>
      <p:sp>
        <p:nvSpPr>
          <p:cNvPr id="3" name="Rectángulo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Marcador de posición de imagen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rtlCol="0"/>
          <a:lstStyle>
            <a:lvl1pPr marL="0" indent="0">
              <a:buNone/>
              <a:defRPr/>
            </a:lvl1pPr>
          </a:lstStyle>
          <a:p>
            <a:pPr rtl="0"/>
            <a:r>
              <a:rPr lang="es"/>
              <a:t>  </a:t>
            </a:r>
          </a:p>
        </p:txBody>
      </p:sp>
      <p:grpSp>
        <p:nvGrpSpPr>
          <p:cNvPr id="6" name="Grupo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áfico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1" name="Gráfico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2" name="Gráfico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ido con imagen 9">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8" name="Grupo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áfico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20" name="Gráfico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21" name="Gráfico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4" name="Título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rtlCol="0" anchor="b">
            <a:noAutofit/>
          </a:bodyPr>
          <a:lstStyle/>
          <a:p>
            <a:pPr rtl="0"/>
            <a:r>
              <a:rPr lang="es"/>
              <a:t>Haga clic para modificar el estilo de título del patrón</a:t>
            </a:r>
          </a:p>
        </p:txBody>
      </p:sp>
      <p:sp>
        <p:nvSpPr>
          <p:cNvPr id="16" name="Marcador de posición de imagen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rtlCol="0"/>
          <a:lstStyle>
            <a:lvl1pPr marL="0" indent="0">
              <a:buNone/>
              <a:defRPr/>
            </a:lvl1pPr>
          </a:lstStyle>
          <a:p>
            <a:pPr rtl="0"/>
            <a:r>
              <a:rPr lang="es"/>
              <a:t>  </a:t>
            </a:r>
          </a:p>
        </p:txBody>
      </p:sp>
      <p:sp>
        <p:nvSpPr>
          <p:cNvPr id="25" name="Marcador de contenido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rtlCol="0"/>
          <a:lstStyle>
            <a:lvl1pPr>
              <a:defRPr>
                <a:solidFill>
                  <a:schemeClr val="bg1">
                    <a:lumMod val="65000"/>
                  </a:schemeClr>
                </a:solidFill>
                <a:effectLst/>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ido con imagen 10">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0" name="Grupo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áfico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16" name="Gráfico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17" name="Gráfico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0" name="Título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rtlCol="0" anchor="b">
            <a:noAutofit/>
          </a:bodyPr>
          <a:lstStyle/>
          <a:p>
            <a:pPr rtl="0"/>
            <a:r>
              <a:rPr lang="es"/>
              <a:t>Haga clic para modificar el estilo de título del patrón</a:t>
            </a:r>
          </a:p>
        </p:txBody>
      </p:sp>
      <p:sp>
        <p:nvSpPr>
          <p:cNvPr id="21" name="Marcador de contenido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rtlCol="0"/>
          <a:lstStyle/>
          <a:p>
            <a:pPr rtl="0"/>
            <a:r>
              <a:rPr lang="es"/>
              <a:t>Ejemplo de Texto de pie de página</a:t>
            </a:r>
          </a:p>
        </p:txBody>
      </p:sp>
      <p:sp>
        <p:nvSpPr>
          <p:cNvPr id="3" name="Marcador de fecha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rtlCol="0"/>
          <a:lstStyle>
            <a:lvl1pPr>
              <a:defRPr>
                <a:solidFill>
                  <a:schemeClr val="bg1">
                    <a:lumMod val="65000"/>
                  </a:schemeClr>
                </a:solidFill>
                <a:effectLst/>
              </a:defRPr>
            </a:lvl1pPr>
          </a:lstStyle>
          <a:p>
            <a:pPr rtl="0"/>
            <a:r>
              <a:rPr lang="en-US"/>
              <a:t>17/9/2025</a:t>
            </a:r>
          </a:p>
        </p:txBody>
      </p:sp>
      <p:sp>
        <p:nvSpPr>
          <p:cNvPr id="9" name="Marcador de número de diapositiva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rtlCol="0"/>
          <a:lstStyle/>
          <a:p>
            <a:pPr rtl="0"/>
            <a:fld id="{AEAA3239-9EA4-4A65-A281-97F994456D9F}" type="slidenum">
              <a:rPr lang="en-US" smtClean="0"/>
              <a:t>‹Nº›</a:t>
            </a:fld>
            <a:endParaRPr lang="en-US"/>
          </a:p>
        </p:txBody>
      </p:sp>
      <p:sp>
        <p:nvSpPr>
          <p:cNvPr id="19" name="Marcador de posición de imagen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ido con imagen 11">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rtlCol="0" anchor="t">
            <a:noAutofit/>
          </a:bodyPr>
          <a:lstStyle>
            <a:lvl1pPr>
              <a:defRPr sz="4000"/>
            </a:lvl1pPr>
          </a:lstStyle>
          <a:p>
            <a:pPr rtl="0"/>
            <a:r>
              <a:rPr lang="es"/>
              <a:t>Haga clic para modificar el estilo de título del patrón</a:t>
            </a:r>
          </a:p>
        </p:txBody>
      </p:sp>
      <p:sp>
        <p:nvSpPr>
          <p:cNvPr id="15" name="Marcador de posición de imagen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ido con imagen 12">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rtlCol="0" anchor="t">
            <a:noAutofit/>
          </a:bodyPr>
          <a:lstStyle>
            <a:lvl1pPr>
              <a:defRPr sz="4000"/>
            </a:lvl1pPr>
          </a:lstStyle>
          <a:p>
            <a:pPr rtl="0"/>
            <a:r>
              <a:rPr lang="es"/>
              <a:t>Haga clic para modificar el estilo de título del patrón</a:t>
            </a:r>
          </a:p>
        </p:txBody>
      </p:sp>
      <p:sp>
        <p:nvSpPr>
          <p:cNvPr id="10" name="Marcador de posición de imagen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ido con imagen 1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rtlCol="0" anchor="t">
            <a:noAutofit/>
          </a:bodyPr>
          <a:lstStyle>
            <a:lvl1pPr>
              <a:defRPr sz="4000"/>
            </a:lvl1pPr>
          </a:lstStyle>
          <a:p>
            <a:pPr rtl="0"/>
            <a:r>
              <a:rPr lang="es"/>
              <a:t>Haga clic para modificar el estilo de título del patrón</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rtlCol="0"/>
          <a:lstStyle/>
          <a:p>
            <a:pPr rtl="0"/>
            <a:fld id="{AEAA3239-9EA4-4A65-A281-97F994456D9F}"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osición de imagen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ido con imagen 14">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rtlCol="0" anchor="b"/>
          <a:lstStyle/>
          <a:p>
            <a:pPr rtl="0"/>
            <a:r>
              <a:rPr lang="es"/>
              <a:t>Haga clic para modificar el estilo de título del patrón</a:t>
            </a:r>
          </a:p>
        </p:txBody>
      </p:sp>
      <p:sp>
        <p:nvSpPr>
          <p:cNvPr id="6" name="Marcador de contenido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5" name="Rectángulo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Marcador de posición de imagen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rtlCol="0"/>
          <a:lstStyle>
            <a:lvl1pPr marL="0" indent="0">
              <a:buNone/>
              <a:defRPr/>
            </a:lvl1pPr>
          </a:lstStyle>
          <a:p>
            <a:pPr rtl="0"/>
            <a:r>
              <a:rPr lang="es"/>
              <a:t>  </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rtlCol="0"/>
          <a:lstStyle/>
          <a:p>
            <a:pPr rtl="0"/>
            <a:r>
              <a:rPr lang="es"/>
              <a:t>Texto de pie de página de ejemplo</a:t>
            </a:r>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rtlCol="0"/>
          <a:lstStyle/>
          <a:p>
            <a:pPr rtl="0"/>
            <a:fld id="{AEAA3239-9EA4-4A65-A281-97F994456D9F}" type="slidenum">
              <a:rPr lang="en-US" smtClean="0"/>
              <a:t>‹Nº›</a:t>
            </a:fld>
            <a:endParaRPr lang="en-US"/>
          </a:p>
        </p:txBody>
      </p:sp>
      <p:grpSp>
        <p:nvGrpSpPr>
          <p:cNvPr id="7" name="Grupo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áfico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Gráfico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Gráfico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ido con imagen 15">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Título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rtlCol="0" anchor="b"/>
          <a:lstStyle/>
          <a:p>
            <a:pPr rtl="0"/>
            <a:r>
              <a:rPr lang="es"/>
              <a:t>Haga clic para modificar el estilo de título del patrón</a:t>
            </a:r>
          </a:p>
        </p:txBody>
      </p:sp>
      <p:sp>
        <p:nvSpPr>
          <p:cNvPr id="13" name="Marcador de contenido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4" name="Marcador de posición de imagen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rtlCol="0"/>
          <a:lstStyle>
            <a:lvl1pPr marL="0" indent="0">
              <a:buNone/>
              <a:defRPr/>
            </a:lvl1pPr>
          </a:lstStyle>
          <a:p>
            <a:pPr rtl="0"/>
            <a:r>
              <a:rPr lang="es"/>
              <a:t>   </a:t>
            </a:r>
          </a:p>
        </p:txBody>
      </p:sp>
      <p:sp>
        <p:nvSpPr>
          <p:cNvPr id="14" name="Marcador de pie de página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rtlCol="0"/>
          <a:lstStyle/>
          <a:p>
            <a:pPr rtl="0"/>
            <a:r>
              <a:rPr lang="es"/>
              <a:t>Muestra de texto de pie de página</a:t>
            </a:r>
          </a:p>
        </p:txBody>
      </p:sp>
      <p:sp>
        <p:nvSpPr>
          <p:cNvPr id="15" name="Marcador de fecha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rtlCol="0"/>
          <a:lstStyle/>
          <a:p>
            <a:pPr rtl="0"/>
            <a:r>
              <a:rPr lang="en-US"/>
              <a:t>17/9/2025</a:t>
            </a:r>
          </a:p>
        </p:txBody>
      </p:sp>
      <p:sp>
        <p:nvSpPr>
          <p:cNvPr id="16" name="Marcador de número de diapositiva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rtlCol="0"/>
          <a:lstStyle/>
          <a:p>
            <a:pPr rtl="0"/>
            <a:fld id="{AEAA3239-9EA4-4A65-A281-97F994456D9F}" type="slidenum">
              <a:rPr lang="en-US" smtClean="0"/>
              <a:t>‹Nº›</a:t>
            </a:fld>
            <a:endParaRPr lang="en-US"/>
          </a:p>
        </p:txBody>
      </p:sp>
      <p:grpSp>
        <p:nvGrpSpPr>
          <p:cNvPr id="2" name="Grupo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áfico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4" name="Gráfico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5" name="Gráfico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ido con imagen 16">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rtlCol="0" anchor="b"/>
          <a:lstStyle/>
          <a:p>
            <a:pPr rtl="0"/>
            <a:r>
              <a:rPr lang="es"/>
              <a:t>Haga clic para modificar el estilo de título del patrón</a:t>
            </a:r>
          </a:p>
        </p:txBody>
      </p:sp>
      <p:sp>
        <p:nvSpPr>
          <p:cNvPr id="5" name="Marcador de posición de imagen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rtlCol="0"/>
          <a:lstStyle>
            <a:lvl1pPr marL="0" indent="0">
              <a:buNone/>
              <a:defRPr/>
            </a:lvl1pPr>
          </a:lstStyle>
          <a:p>
            <a:pPr rtl="0"/>
            <a:r>
              <a:rPr lang="es"/>
              <a:t>  </a:t>
            </a:r>
          </a:p>
        </p:txBody>
      </p:sp>
      <p:sp>
        <p:nvSpPr>
          <p:cNvPr id="7" name="Marcador de contenido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rtlCol="0"/>
          <a:lstStyle/>
          <a:p>
            <a:pPr rtl="0"/>
            <a:r>
              <a:rPr lang="es"/>
              <a:t>Muestra de texto de pie de página</a:t>
            </a:r>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rtlCol="0"/>
          <a:lstStyle/>
          <a:p>
            <a:pPr rtl="0"/>
            <a:fld id="{AEAA3239-9EA4-4A65-A281-97F994456D9F}" type="slidenum">
              <a:rPr lang="en-US" smtClean="0"/>
              <a:t>‹Nº›</a:t>
            </a:fld>
            <a:endParaRPr lang="en-US"/>
          </a:p>
        </p:txBody>
      </p:sp>
      <p:grpSp>
        <p:nvGrpSpPr>
          <p:cNvPr id="6" name="Grupo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áfico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3" name="Gráfico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4" name="Gráfico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ido con imagen 17">
    <p:spTree>
      <p:nvGrpSpPr>
        <p:cNvPr id="1" name=""/>
        <p:cNvGrpSpPr/>
        <p:nvPr/>
      </p:nvGrpSpPr>
      <p:grpSpPr>
        <a:xfrm>
          <a:off x="0" y="0"/>
          <a:ext cx="0" cy="0"/>
          <a:chOff x="0" y="0"/>
          <a:chExt cx="0" cy="0"/>
        </a:xfrm>
      </p:grpSpPr>
      <p:sp>
        <p:nvSpPr>
          <p:cNvPr id="27" name="Rectángulo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rtlCol="0" anchor="t">
            <a:noAutofit/>
          </a:bodyPr>
          <a:lstStyle>
            <a:lvl1pPr>
              <a:defRPr sz="4000"/>
            </a:lvl1pPr>
          </a:lstStyle>
          <a:p>
            <a:pPr rtl="0"/>
            <a:r>
              <a:rPr lang="es"/>
              <a:t>Haga clic para modificar el estilo de título del patrón</a:t>
            </a:r>
          </a:p>
        </p:txBody>
      </p:sp>
      <p:sp>
        <p:nvSpPr>
          <p:cNvPr id="28" name="Marcador de posición de imagen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rtlCol="0">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rtlCol="0"/>
          <a:lstStyle/>
          <a:p>
            <a:pPr rtl="0"/>
            <a:fld id="{AEAA3239-9EA4-4A65-A281-97F994456D9F}" type="slidenum">
              <a:rPr lang="en-US" smtClean="0"/>
              <a:t>‹Nº›</a:t>
            </a:fld>
            <a:endParaRPr lang="en-US" dirty="0"/>
          </a:p>
        </p:txBody>
      </p:sp>
      <p:grpSp>
        <p:nvGrpSpPr>
          <p:cNvPr id="3" name="Grupo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áfico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Gráfico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Gráfico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ido con imagen 18">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Título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rtlCol="0" anchor="t">
            <a:noAutofit/>
          </a:bodyPr>
          <a:lstStyle>
            <a:lvl1pPr>
              <a:defRPr sz="4000"/>
            </a:lvl1pPr>
          </a:lstStyle>
          <a:p>
            <a:pPr rtl="0"/>
            <a:r>
              <a:rPr lang="es"/>
              <a:t>Haga clic para modificar el estilo de título del patrón</a:t>
            </a:r>
          </a:p>
        </p:txBody>
      </p:sp>
      <p:sp>
        <p:nvSpPr>
          <p:cNvPr id="10" name="Marcador de posición de imagen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rtlCol="0"/>
          <a:lstStyle>
            <a:lvl1pPr marL="0" indent="0">
              <a:buNone/>
              <a:defRPr/>
            </a:lvl1pPr>
          </a:lstStyle>
          <a:p>
            <a:pPr rtl="0"/>
            <a:r>
              <a:rPr lang="es"/>
              <a:t>  </a:t>
            </a:r>
          </a:p>
        </p:txBody>
      </p:sp>
      <p:sp>
        <p:nvSpPr>
          <p:cNvPr id="4" name="Marcador de contenido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lstStyle/>
          <a:p>
            <a:pPr rtl="0"/>
            <a:r>
              <a:rPr lang="es"/>
              <a:t>Texto de pie de página de ejemplo</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17/9/2025</a:t>
            </a:r>
          </a:p>
        </p:txBody>
      </p:sp>
      <p:grpSp>
        <p:nvGrpSpPr>
          <p:cNvPr id="2" name="Grupo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áfico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8" name="Gráfico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1" name="Gráfico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úmero grand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áfico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3" name="Gráfico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4" name="Gráfico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
        <p:nvSpPr>
          <p:cNvPr id="8" name="Título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rtlCol="0" anchor="t">
            <a:normAutofit/>
          </a:bodyPr>
          <a:lstStyle>
            <a:lvl1pPr>
              <a:lnSpc>
                <a:spcPct val="100000"/>
              </a:lnSpc>
              <a:defRPr sz="2000" b="0" cap="none" baseline="0"/>
            </a:lvl1pPr>
          </a:lstStyle>
          <a:p>
            <a:pPr rtl="0"/>
            <a:r>
              <a:rPr lang="es"/>
              <a:t>Haga clic para modificar el estilo de título del patrón</a:t>
            </a:r>
          </a:p>
        </p:txBody>
      </p:sp>
      <p:sp>
        <p:nvSpPr>
          <p:cNvPr id="16" name="Marcador de contenido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rtlCol="0" anchor="b">
            <a:normAutofit/>
          </a:bodyPr>
          <a:lstStyle>
            <a:lvl1pPr marL="0" indent="0">
              <a:lnSpc>
                <a:spcPct val="90000"/>
              </a:lnSpc>
              <a:buNone/>
              <a:defRPr sz="27000"/>
            </a:lvl1pPr>
          </a:lstStyle>
          <a:p>
            <a:pPr lvl="0" rtl="0"/>
            <a:r>
              <a:rPr lang="es"/>
              <a:t>##%</a:t>
            </a:r>
          </a:p>
        </p:txBody>
      </p:sp>
      <p:sp>
        <p:nvSpPr>
          <p:cNvPr id="6" name="Marcador de número de diapositiva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rtlCol="0"/>
          <a:lstStyle>
            <a:lvl1pPr>
              <a:defRPr>
                <a:solidFill>
                  <a:schemeClr val="tx1"/>
                </a:solidFill>
              </a:defRPr>
            </a:lvl1pPr>
          </a:lstStyle>
          <a:p>
            <a:pPr rtl="0"/>
            <a:fld id="{AEAA3239-9EA4-4A65-A281-97F994456D9F}" type="slidenum">
              <a:rPr lang="en-US" smtClean="0"/>
              <a:pPr rtl="0"/>
              <a:t>‹Nº›</a:t>
            </a:fld>
            <a:endParaRPr lang="en-US" dirty="0"/>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es"/>
              <a:t>Texto de ejemplo para el pie de página</a:t>
            </a:r>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t>17/9/2025</a:t>
            </a:r>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úmero grand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ítulo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rtlCol="0" anchor="t">
            <a:normAutofit/>
          </a:bodyPr>
          <a:lstStyle>
            <a:lvl1pPr algn="ctr">
              <a:lnSpc>
                <a:spcPct val="110000"/>
              </a:lnSpc>
              <a:defRPr sz="2000" b="0" i="0" cap="none" baseline="0">
                <a:solidFill>
                  <a:schemeClr val="bg2"/>
                </a:solidFill>
                <a:latin typeface="+mj-lt"/>
              </a:defRPr>
            </a:lvl1pPr>
          </a:lstStyle>
          <a:p>
            <a:pPr rtl="0"/>
            <a:r>
              <a:rPr lang="es"/>
              <a:t>Haga clic para modificar el estilo de título del patrón</a:t>
            </a:r>
          </a:p>
        </p:txBody>
      </p:sp>
      <p:sp>
        <p:nvSpPr>
          <p:cNvPr id="24" name="Marcador de contenido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rtlCol="0" anchor="b">
            <a:normAutofit/>
          </a:bodyPr>
          <a:lstStyle>
            <a:lvl1pPr marL="0" indent="0" algn="ctr">
              <a:lnSpc>
                <a:spcPct val="90000"/>
              </a:lnSpc>
              <a:buNone/>
              <a:defRPr sz="27000" b="0" i="0">
                <a:solidFill>
                  <a:schemeClr val="bg2"/>
                </a:solidFill>
                <a:latin typeface="+mn-lt"/>
              </a:defRPr>
            </a:lvl1pPr>
          </a:lstStyle>
          <a:p>
            <a:pPr lvl="0" rtl="0"/>
            <a:r>
              <a:rPr lang="es"/>
              <a:t>## %</a:t>
            </a:r>
          </a:p>
        </p:txBody>
      </p:sp>
      <p:sp>
        <p:nvSpPr>
          <p:cNvPr id="3" name="Marcador de número de diapositiva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10" name="Marcador de pie de página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rtlCol="0"/>
          <a:lstStyle>
            <a:lvl1pPr>
              <a:defRPr>
                <a:solidFill>
                  <a:schemeClr val="bg1"/>
                </a:solidFill>
              </a:defRPr>
            </a:lvl1pPr>
          </a:lstStyle>
          <a:p>
            <a:pPr rtl="0"/>
            <a:r>
              <a:rPr lang="es"/>
              <a:t>Texto de ejemplo para el pie de página</a:t>
            </a:r>
          </a:p>
        </p:txBody>
      </p:sp>
      <p:sp>
        <p:nvSpPr>
          <p:cNvPr id="9" name="Marcador de fecha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rtlCol="0"/>
          <a:lstStyle>
            <a:lvl1pPr>
              <a:defRPr>
                <a:solidFill>
                  <a:schemeClr val="bg1"/>
                </a:solidFill>
              </a:defRPr>
            </a:lvl1pPr>
          </a:lstStyle>
          <a:p>
            <a:pPr rtl="0"/>
            <a:r>
              <a:rPr lang="en-US"/>
              <a:t>17/9/2025</a:t>
            </a:r>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úmero grande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rtlCol="0" anchor="t">
            <a:normAutofit/>
          </a:bodyPr>
          <a:lstStyle>
            <a:lvl1pPr algn="ctr">
              <a:lnSpc>
                <a:spcPct val="110000"/>
              </a:lnSpc>
              <a:defRPr sz="2000" b="1" i="0" cap="all" baseline="0">
                <a:solidFill>
                  <a:schemeClr val="accent2"/>
                </a:solidFill>
                <a:latin typeface="+mj-lt"/>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rtlCol="0" anchor="b">
            <a:normAutofit/>
          </a:bodyPr>
          <a:lstStyle>
            <a:lvl1pPr marL="0" indent="0" algn="ctr">
              <a:lnSpc>
                <a:spcPct val="90000"/>
              </a:lnSpc>
              <a:buNone/>
              <a:defRPr sz="27000" b="0" i="0">
                <a:solidFill>
                  <a:schemeClr val="tx2"/>
                </a:solidFill>
                <a:latin typeface="+mn-lt"/>
              </a:defRPr>
            </a:lvl1pPr>
          </a:lstStyle>
          <a:p>
            <a:pPr lvl="0" rtl="0"/>
            <a:r>
              <a:rPr lang="es"/>
              <a:t>## %</a:t>
            </a:r>
          </a:p>
        </p:txBody>
      </p:sp>
      <p:sp>
        <p:nvSpPr>
          <p:cNvPr id="6" name="Marcador de número de diapositiva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rtlCol="0"/>
          <a:lstStyle>
            <a:lvl1pPr>
              <a:defRPr>
                <a:solidFill>
                  <a:schemeClr val="accent2"/>
                </a:solidFill>
              </a:defRPr>
            </a:lvl1pPr>
          </a:lstStyle>
          <a:p>
            <a:pPr rtl="0"/>
            <a:fld id="{AEAA3239-9EA4-4A65-A281-97F994456D9F}" type="slidenum">
              <a:rPr lang="en-US" smtClean="0"/>
              <a:pPr rtl="0"/>
              <a:t>‹Nº›</a:t>
            </a:fld>
            <a:endParaRPr lang="en-US"/>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17/9/2025</a:t>
            </a:r>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nstrucción">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bg1"/>
                </a:solidFill>
              </a:defRPr>
            </a:lvl1pPr>
          </a:lstStyle>
          <a:p>
            <a:pPr rtl="0"/>
            <a:r>
              <a:rPr lang="es"/>
              <a:t>Haga clic para modificar el estilo de título del patrón</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rtlCol="0"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tx1"/>
                </a:solidFill>
              </a:defRPr>
            </a:lvl1pPr>
          </a:lstStyle>
          <a:p>
            <a:pPr rtl="0"/>
            <a:r>
              <a:rPr lang="es"/>
              <a:t>Texto de ejemplo para el pie de página</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t>17/9/2025</a:t>
            </a:r>
          </a:p>
        </p:txBody>
      </p:sp>
      <p:cxnSp>
        <p:nvCxnSpPr>
          <p:cNvPr id="6" name="Conector recto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upo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áfico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8" name="Gráfico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9" name="Gráfico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strucción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lvl1pPr>
              <a:defRPr>
                <a:solidFill>
                  <a:schemeClr val="tx1"/>
                </a:solidFill>
              </a:defRPr>
            </a:lvl1pPr>
          </a:lstStyle>
          <a:p>
            <a:pPr rtl="0"/>
            <a:r>
              <a:rPr lang="es"/>
              <a:t>Haga clic para modificar el estilo de título del patrón</a:t>
            </a:r>
          </a:p>
        </p:txBody>
      </p:sp>
      <p:sp>
        <p:nvSpPr>
          <p:cNvPr id="6" name="Marcador de contenido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rtlCol="0"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21" name="Marcador de número de diapositiva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es"/>
              <a:t>Texto de ejemplo para el pie de página</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bg1"/>
                </a:solidFill>
              </a:defRPr>
            </a:lvl1pPr>
          </a:lstStyle>
          <a:p>
            <a:pPr rtl="0"/>
            <a:r>
              <a:rPr lang="en-US"/>
              <a:t>17/9/2025</a:t>
            </a:r>
          </a:p>
        </p:txBody>
      </p:sp>
      <p:cxnSp>
        <p:nvCxnSpPr>
          <p:cNvPr id="12" name="Conector recto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upo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áfico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24" name="Gráfico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25" name="Gráfico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strucció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6" name="Marcador de contenido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rtlCol="0"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17/9/2025</a:t>
            </a:r>
          </a:p>
        </p:txBody>
      </p:sp>
      <p:cxnSp>
        <p:nvCxnSpPr>
          <p:cNvPr id="13" name="Conector recto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upo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áfico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6" name="Gráfico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7" name="Gráfico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áfico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Gráfico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Gráfico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7" name="Título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rtlCol="0" anchor="ctr">
            <a:normAutofit/>
          </a:bodyPr>
          <a:lstStyle>
            <a:lvl1pPr>
              <a:lnSpc>
                <a:spcPct val="120000"/>
              </a:lnSpc>
              <a:defRPr sz="2000">
                <a:solidFill>
                  <a:schemeClr val="accent2"/>
                </a:solidFill>
              </a:defRPr>
            </a:lvl1pPr>
          </a:lstStyle>
          <a:p>
            <a:pPr rtl="0"/>
            <a:r>
              <a:rPr lang="es"/>
              <a:t>Autor de la cita</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16" name="Marcador de contenido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rtlCol="0">
            <a:normAutofit/>
          </a:bodyPr>
          <a:lstStyle>
            <a:lvl1pPr marL="0" indent="0">
              <a:lnSpc>
                <a:spcPct val="90000"/>
              </a:lnSpc>
              <a:buNone/>
              <a:defRPr sz="5000" b="0"/>
            </a:lvl1pPr>
          </a:lstStyle>
          <a:p>
            <a:pPr lvl="0" rtl="0"/>
            <a:r>
              <a:rPr lang="es"/>
              <a:t>Haga clic para agregar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17/9/2025</a:t>
            </a:r>
          </a:p>
        </p:txBody>
      </p:sp>
      <p:cxnSp>
        <p:nvCxnSpPr>
          <p:cNvPr id="13" name="Conector recto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ita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ítulo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rtlCol="0" anchor="ctr">
            <a:normAutofit/>
          </a:bodyPr>
          <a:lstStyle>
            <a:lvl1pPr>
              <a:lnSpc>
                <a:spcPct val="120000"/>
              </a:lnSpc>
              <a:defRPr sz="2000"/>
            </a:lvl1pPr>
          </a:lstStyle>
          <a:p>
            <a:pPr rtl="0"/>
            <a:r>
              <a:rPr lang="es"/>
              <a:t>Autor de la cita</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rtl="0"/>
              <a:t>‹Nº›</a:t>
            </a:fld>
            <a:endParaRPr lang="en-US"/>
          </a:p>
        </p:txBody>
      </p:sp>
      <p:sp>
        <p:nvSpPr>
          <p:cNvPr id="13" name="Marcador de contenido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rtlCol="0" anchor="ctr">
            <a:normAutofit/>
          </a:bodyPr>
          <a:lstStyle>
            <a:lvl1pPr marL="0" indent="0">
              <a:lnSpc>
                <a:spcPct val="90000"/>
              </a:lnSpc>
              <a:buNone/>
              <a:defRPr sz="5000"/>
            </a:lvl1pPr>
          </a:lstStyle>
          <a:p>
            <a:pPr lvl="0" rtl="0"/>
            <a:r>
              <a:rPr lang="es"/>
              <a:t>Haga clic para agregar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rtlCol="0"/>
          <a:lstStyle>
            <a:lvl1pPr>
              <a:defRPr>
                <a:solidFill>
                  <a:schemeClr val="tx1"/>
                </a:solidFill>
              </a:defRPr>
            </a:lvl1pPr>
          </a:lstStyle>
          <a:p>
            <a:pPr rtl="0"/>
            <a:r>
              <a:rPr lang="es"/>
              <a:t>Texto de pie de página de ejemplo</a:t>
            </a:r>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solidFill>
                  <a:schemeClr val="tx1"/>
                </a:solidFill>
              </a:defRPr>
            </a:lvl1pPr>
          </a:lstStyle>
          <a:p>
            <a:pPr rtl="0"/>
            <a:r>
              <a:rPr lang="en-US"/>
              <a:t>17/9/2025</a:t>
            </a:r>
          </a:p>
        </p:txBody>
      </p:sp>
      <p:grpSp>
        <p:nvGrpSpPr>
          <p:cNvPr id="6" name="Grupo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áfico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9" name="Gráfico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0" name="Gráfico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ta 3">
    <p:spTree>
      <p:nvGrpSpPr>
        <p:cNvPr id="1" name=""/>
        <p:cNvGrpSpPr/>
        <p:nvPr/>
      </p:nvGrpSpPr>
      <p:grpSpPr>
        <a:xfrm>
          <a:off x="0" y="0"/>
          <a:ext cx="0" cy="0"/>
          <a:chOff x="0" y="0"/>
          <a:chExt cx="0" cy="0"/>
        </a:xfrm>
      </p:grpSpPr>
      <p:sp>
        <p:nvSpPr>
          <p:cNvPr id="14" name="Título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rtlCol="0" anchor="ctr">
            <a:normAutofit/>
          </a:bodyPr>
          <a:lstStyle>
            <a:lvl1pPr>
              <a:lnSpc>
                <a:spcPct val="120000"/>
              </a:lnSpc>
              <a:defRPr sz="2000">
                <a:solidFill>
                  <a:schemeClr val="accent2"/>
                </a:solidFill>
              </a:defRPr>
            </a:lvl1pPr>
          </a:lstStyle>
          <a:p>
            <a:pPr rtl="0"/>
            <a:r>
              <a:rPr lang="es"/>
              <a:t>Autor de la cita</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13" name="Marcador de contenido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rtlCol="0" anchor="ctr">
            <a:normAutofit/>
          </a:bodyPr>
          <a:lstStyle>
            <a:lvl1pPr marL="0" indent="0">
              <a:lnSpc>
                <a:spcPct val="90000"/>
              </a:lnSpc>
              <a:buNone/>
              <a:defRPr sz="5000"/>
            </a:lvl1pPr>
          </a:lstStyle>
          <a:p>
            <a:pPr lvl="0" rtl="0"/>
            <a:r>
              <a:rPr lang="es"/>
              <a:t>Haga clic para agregar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rtlCol="0"/>
          <a:lstStyle/>
          <a:p>
            <a:pPr rtl="0"/>
            <a:r>
              <a:rPr lang="es"/>
              <a:t>Texto de pie de página de ejemplo</a:t>
            </a:r>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17/9/2025</a:t>
            </a:r>
          </a:p>
        </p:txBody>
      </p:sp>
      <p:grpSp>
        <p:nvGrpSpPr>
          <p:cNvPr id="9" name="Grupo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áfico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Gráfico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Gráfico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os contenidos">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rtlCol="0" anchor="b"/>
          <a:lstStyle/>
          <a:p>
            <a:pPr rtl="0"/>
            <a:r>
              <a:rPr lang="es"/>
              <a:t>Haga clic para modificar el estilo de título del patrón</a:t>
            </a:r>
          </a:p>
        </p:txBody>
      </p:sp>
      <p:sp>
        <p:nvSpPr>
          <p:cNvPr id="9" name="Marcador de contenido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rtlCol="0"/>
          <a:lstStyle>
            <a:lvl1pPr>
              <a:defRPr sz="1400"/>
            </a:lvl1pPr>
            <a:lvl2pPr>
              <a:defRPr sz="1400"/>
            </a:lvl2pPr>
            <a:lvl3pPr>
              <a:defRPr sz="1400"/>
            </a:lvl3pPr>
            <a:lvl4pPr>
              <a:defRPr sz="14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1" name="Marcador de contenido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rtlCol="0"/>
          <a:lstStyle>
            <a:lvl1pPr>
              <a:defRPr sz="1400"/>
            </a:lvl1pPr>
            <a:lvl2pPr>
              <a:defRPr sz="1400"/>
            </a:lvl2pPr>
            <a:lvl3pPr>
              <a:defRPr sz="1400"/>
            </a:lvl3pPr>
            <a:lvl4pPr>
              <a:defRPr sz="14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3" name="Conector recto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Marcador de pie de página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rtlCol="0"/>
          <a:lstStyle/>
          <a:p>
            <a:pPr rtl="0"/>
            <a:r>
              <a:rPr lang="es"/>
              <a:t>Ejemplo de Texto de pie de página</a:t>
            </a:r>
          </a:p>
        </p:txBody>
      </p:sp>
      <p:sp>
        <p:nvSpPr>
          <p:cNvPr id="14" name="Marcador de fecha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rtlCol="0"/>
          <a:lstStyle/>
          <a:p>
            <a:pPr rtl="0"/>
            <a:r>
              <a:rPr lang="en-US"/>
              <a:t>17/9/2025</a:t>
            </a:r>
          </a:p>
        </p:txBody>
      </p:sp>
      <p:sp>
        <p:nvSpPr>
          <p:cNvPr id="16" name="Marcador de número de diapositiva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rtlCol="0" anchor="b"/>
          <a:lstStyle/>
          <a:p>
            <a:pPr rtl="0"/>
            <a:r>
              <a:rPr lang="es"/>
              <a:t>Haga clic para modificar el estilo de título del patrón</a:t>
            </a:r>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rtlCol="0"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rtlCol="0"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rtlCol="0"/>
          <a:lstStyle>
            <a:lvl1pPr>
              <a:defRPr sz="1400"/>
            </a:lvl1pPr>
            <a:lvl2pPr>
              <a:defRPr sz="1400"/>
            </a:lvl2pPr>
            <a:lvl3pPr>
              <a:defRPr sz="1400"/>
            </a:lvl3pPr>
            <a:lvl4pPr>
              <a:defRPr sz="14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2" name="Marcador de contenido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rtlCol="0"/>
          <a:lstStyle>
            <a:lvl1pPr>
              <a:defRPr sz="1400"/>
            </a:lvl1pPr>
            <a:lvl2pPr>
              <a:defRPr sz="1400"/>
            </a:lvl2pPr>
            <a:lvl3pPr>
              <a:defRPr sz="1400"/>
            </a:lvl3pPr>
            <a:lvl4pPr>
              <a:defRPr sz="14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cxnSp>
        <p:nvCxnSpPr>
          <p:cNvPr id="11" name="Conector recto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Marcador de pie de página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rtlCol="0"/>
          <a:lstStyle/>
          <a:p>
            <a:pPr rtl="0"/>
            <a:r>
              <a:rPr lang="es"/>
              <a:t>Ejemplo de Texto de pie de página</a:t>
            </a:r>
          </a:p>
        </p:txBody>
      </p:sp>
      <p:sp>
        <p:nvSpPr>
          <p:cNvPr id="13" name="Marcador de fecha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rtlCol="0"/>
          <a:lstStyle/>
          <a:p>
            <a:pPr rtl="0"/>
            <a:r>
              <a:rPr lang="en-US"/>
              <a:t>17/9/2025</a:t>
            </a:r>
          </a:p>
        </p:txBody>
      </p:sp>
      <p:sp>
        <p:nvSpPr>
          <p:cNvPr id="15" name="Marcador de número de diapositiva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áfico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Gráfico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Gráfico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
        <p:nvSpPr>
          <p:cNvPr id="6" name="Título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rtlCol="0" anchor="b"/>
          <a:lstStyle/>
          <a:p>
            <a:pPr rtl="0"/>
            <a:r>
              <a:rPr lang="es"/>
              <a:t>Haga clic para modificar el estilo de título del patrón</a:t>
            </a:r>
          </a:p>
        </p:txBody>
      </p:sp>
      <p:sp>
        <p:nvSpPr>
          <p:cNvPr id="9" name="Marcador de pie de página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rtlCol="0"/>
          <a:lstStyle/>
          <a:p>
            <a:pPr rtl="0"/>
            <a:r>
              <a:rPr lang="es"/>
              <a:t>Ejemplo de Texto de pie de página</a:t>
            </a:r>
          </a:p>
        </p:txBody>
      </p:sp>
      <p:sp>
        <p:nvSpPr>
          <p:cNvPr id="8" name="Marcador de fecha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rtlCol="0"/>
          <a:lstStyle/>
          <a:p>
            <a:pPr rtl="0"/>
            <a:r>
              <a:rPr lang="en-US"/>
              <a:t>17/9/2025</a:t>
            </a:r>
          </a:p>
        </p:txBody>
      </p:sp>
      <p:sp>
        <p:nvSpPr>
          <p:cNvPr id="10" name="Marcador de número de diapositiva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‹Nº›</a:t>
            </a:fld>
            <a:endParaRPr lang="en-US"/>
          </a:p>
        </p:txBody>
      </p:sp>
      <p:cxnSp>
        <p:nvCxnSpPr>
          <p:cNvPr id="11" name="Conector recto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Vacío">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es"/>
              <a:t>Ejemplo de Texto de pie de página</a:t>
            </a:r>
          </a:p>
        </p:txBody>
      </p:sp>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17/9/2025</a:t>
            </a:r>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rtlCol="0" anchor="t">
            <a:noAutofit/>
          </a:bodyPr>
          <a:lstStyle>
            <a:lvl1pPr>
              <a:defRPr sz="4000"/>
            </a:lvl1pPr>
          </a:lstStyle>
          <a:p>
            <a:pPr rtl="0"/>
            <a:r>
              <a:rPr lang="es"/>
              <a:t>Haga clic para modificar el estilo de título del patrón</a:t>
            </a:r>
          </a:p>
        </p:txBody>
      </p:sp>
      <p:sp>
        <p:nvSpPr>
          <p:cNvPr id="9" name="Marcador de texto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rtlCol="0">
            <a:normAutofit/>
          </a:bodyPr>
          <a:lstStyle>
            <a:lvl1pPr marL="0" indent="0">
              <a:buNone/>
              <a:defRPr sz="1400"/>
            </a:lvl1pPr>
          </a:lstStyle>
          <a:p>
            <a:pPr rtl="0"/>
            <a:r>
              <a:rPr lang="es"/>
              <a:t>Agregar una breve descripción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rtlCol="0"/>
          <a:lstStyle/>
          <a:p>
            <a:pPr rtl="0"/>
            <a:fld id="{AEAA3239-9EA4-4A65-A281-97F994456D9F}" type="slidenum">
              <a:rPr lang="en-US" smtClean="0"/>
              <a:t>‹Nº›</a:t>
            </a:fld>
            <a:endParaRPr lang="en-US"/>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17/9/2025</a:t>
            </a:r>
          </a:p>
        </p:txBody>
      </p:sp>
      <p:grpSp>
        <p:nvGrpSpPr>
          <p:cNvPr id="12" name="Grupo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áfico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4" name="Gráfico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9" name="Gráfico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rtlCol="0" anchor="t">
            <a:noAutofit/>
          </a:bodyPr>
          <a:lstStyle>
            <a:lvl1pPr>
              <a:defRPr sz="4000"/>
            </a:lvl1pPr>
          </a:lstStyle>
          <a:p>
            <a:pPr rtl="0"/>
            <a:r>
              <a:rPr lang="es"/>
              <a:t>Haga clic para modificar el estilo de título del patrón</a:t>
            </a:r>
          </a:p>
        </p:txBody>
      </p:sp>
      <p:sp>
        <p:nvSpPr>
          <p:cNvPr id="9" name="Marcador de texto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rtlCol="0" anchor="b">
            <a:normAutofit/>
          </a:bodyPr>
          <a:lstStyle>
            <a:lvl1pPr marL="0" indent="0">
              <a:buNone/>
              <a:defRPr sz="1400"/>
            </a:lvl1pPr>
          </a:lstStyle>
          <a:p>
            <a:pPr rtl="0"/>
            <a:r>
              <a:rPr lang="es"/>
              <a:t>Agregar una breve descripción</a:t>
            </a:r>
          </a:p>
        </p:txBody>
      </p:sp>
      <p:sp>
        <p:nvSpPr>
          <p:cNvPr id="11" name="Rectángulo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Marcador de posición de imagen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rtlCol="0"/>
          <a:lstStyle>
            <a:lvl1pPr marL="0" indent="0">
              <a:buNone/>
              <a:defRPr/>
            </a:lvl1pPr>
          </a:lstStyle>
          <a:p>
            <a:pPr rtl="0"/>
            <a:r>
              <a:rPr lang="es"/>
              <a:t>  </a:t>
            </a:r>
          </a:p>
        </p:txBody>
      </p:sp>
      <p:sp>
        <p:nvSpPr>
          <p:cNvPr id="7" name="Marcador de número de diapositiva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rtlCol="0"/>
          <a:lstStyle/>
          <a:p>
            <a:pPr rtl="0"/>
            <a:fld id="{AEAA3239-9EA4-4A65-A281-97F994456D9F}" type="slidenum">
              <a:rPr lang="en-US" smtClean="0"/>
              <a:t>‹Nº›</a:t>
            </a:fld>
            <a:endParaRPr lang="en-US"/>
          </a:p>
        </p:txBody>
      </p:sp>
      <p:sp>
        <p:nvSpPr>
          <p:cNvPr id="6" name="Marcador de pie de página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17/9/2025</a:t>
            </a:r>
          </a:p>
        </p:txBody>
      </p:sp>
      <p:grpSp>
        <p:nvGrpSpPr>
          <p:cNvPr id="3" name="Grupo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áfico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0" name="Gráfico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Gráfico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ó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rtlCol="0" anchor="b">
            <a:normAutofit/>
          </a:bodyPr>
          <a:lstStyle>
            <a:lvl1pPr>
              <a:defRPr sz="60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3" name="Marcador de número de diapositiva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rtl="0"/>
              <a:t>‹Nº›</a:t>
            </a:fld>
            <a:endParaRPr lang="en-US"/>
          </a:p>
        </p:txBody>
      </p:sp>
      <p:sp>
        <p:nvSpPr>
          <p:cNvPr id="9" name="Marcador de pie de página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rtlCol="0"/>
          <a:lstStyle>
            <a:lvl1pPr>
              <a:defRPr>
                <a:solidFill>
                  <a:schemeClr val="tx1"/>
                </a:solidFill>
              </a:defRPr>
            </a:lvl1pPr>
          </a:lstStyle>
          <a:p>
            <a:pPr rtl="0"/>
            <a:r>
              <a:rPr lang="es"/>
              <a:t>Ejemplo de Texto de pie de página</a:t>
            </a:r>
          </a:p>
        </p:txBody>
      </p:sp>
      <p:sp>
        <p:nvSpPr>
          <p:cNvPr id="7" name="Marcador de fecha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rtlCol="0"/>
          <a:lstStyle>
            <a:lvl1pPr>
              <a:defRPr>
                <a:solidFill>
                  <a:schemeClr val="tx1"/>
                </a:solidFill>
              </a:defRPr>
            </a:lvl1pPr>
          </a:lstStyle>
          <a:p>
            <a:pPr rtl="0"/>
            <a:r>
              <a:rPr lang="en-US"/>
              <a:t>17/9/2025</a:t>
            </a:r>
          </a:p>
        </p:txBody>
      </p:sp>
      <p:grpSp>
        <p:nvGrpSpPr>
          <p:cNvPr id="11" name="Grupo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áfico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3" name="Gráfico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4" name="Gráfico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ó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rtlCol="0" anchor="b">
            <a:noAutofit/>
          </a:bodyPr>
          <a:lstStyle>
            <a:lvl1pPr>
              <a:defRPr sz="6000">
                <a:solidFill>
                  <a:schemeClr val="tx2"/>
                </a:solidFill>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rtlCol="0">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5" name="Marcador de posición de imagen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rtlCol="0" anchor="t">
            <a:noAutofit/>
          </a:bodyPr>
          <a:lstStyle>
            <a:lvl1pPr algn="ctr">
              <a:buNone/>
              <a:defRPr sz="1600" b="0" i="0">
                <a:solidFill>
                  <a:schemeClr val="tx1"/>
                </a:solidFill>
                <a:latin typeface="+mn-lt"/>
              </a:defRPr>
            </a:lvl1pPr>
          </a:lstStyle>
          <a:p>
            <a:pPr rtl="0"/>
            <a:r>
              <a:rPr lang="es"/>
              <a:t>  </a:t>
            </a:r>
          </a:p>
        </p:txBody>
      </p:sp>
      <p:sp>
        <p:nvSpPr>
          <p:cNvPr id="13" name="Marcador de número de diapositiva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rtl="0"/>
              <a:t>‹Nº›</a:t>
            </a:fld>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17/9/2025</a:t>
            </a:r>
          </a:p>
        </p:txBody>
      </p:sp>
      <p:grpSp>
        <p:nvGrpSpPr>
          <p:cNvPr id="26" name="Grupo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áfico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28" name="Gráfico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29" name="Gráfico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pPr rtl="0"/>
            <a:r>
              <a:rPr lang="en-US"/>
              <a:t>17/9/2025</a:t>
            </a:r>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pPr rtl="0"/>
            <a:fld id="{AEAA3239-9EA4-4A65-A281-97F994456D9F}" type="slidenum">
              <a:rPr lang="en-US" smtClean="0"/>
              <a:pPr rtl="0"/>
              <a:t>‹Nº›</a:t>
            </a:fld>
            <a:endParaRPr lang="en-US"/>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pPr rtl="0"/>
            <a:r>
              <a:rPr lang="es"/>
              <a:t>Haga clic para modificar el estilo de título del patrón</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44.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44.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sv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3.png"/><Relationship Id="rId7"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44.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4.svg"/><Relationship Id="rId9"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4.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3.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4.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4.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4.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4.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4.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4.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4.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6.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44.xml"/><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7.svg"/><Relationship Id="rId9"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1.jpeg"/><Relationship Id="rId2" Type="http://schemas.openxmlformats.org/officeDocument/2006/relationships/notesSlide" Target="../notesSlides/notesSlide15.xml"/><Relationship Id="rId1" Type="http://schemas.openxmlformats.org/officeDocument/2006/relationships/slideLayout" Target="../slideLayouts/slideLayout44.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png"/><Relationship Id="rId7"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44.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3.png"/><Relationship Id="rId7" Type="http://schemas.openxmlformats.org/officeDocument/2006/relationships/image" Target="../media/image58.svg"/><Relationship Id="rId2" Type="http://schemas.openxmlformats.org/officeDocument/2006/relationships/notesSlide" Target="../notesSlides/notesSlide17.xml"/><Relationship Id="rId1" Type="http://schemas.openxmlformats.org/officeDocument/2006/relationships/slideLayout" Target="../slideLayouts/slideLayout44.xml"/><Relationship Id="rId6" Type="http://schemas.openxmlformats.org/officeDocument/2006/relationships/image" Target="../media/image57.png"/><Relationship Id="rId5" Type="http://schemas.openxmlformats.org/officeDocument/2006/relationships/image" Target="../media/image56.jpeg"/><Relationship Id="rId4" Type="http://schemas.openxmlformats.org/officeDocument/2006/relationships/image" Target="../media/image14.svg"/><Relationship Id="rId9" Type="http://schemas.openxmlformats.org/officeDocument/2006/relationships/image" Target="../media/image60.sv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4.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13.png"/><Relationship Id="rId7" Type="http://schemas.openxmlformats.org/officeDocument/2006/relationships/image" Target="../media/image65.png"/><Relationship Id="rId12" Type="http://schemas.openxmlformats.org/officeDocument/2006/relationships/image" Target="../media/image70.svg"/><Relationship Id="rId2" Type="http://schemas.openxmlformats.org/officeDocument/2006/relationships/notesSlide" Target="../notesSlides/notesSlide19.xml"/><Relationship Id="rId1" Type="http://schemas.openxmlformats.org/officeDocument/2006/relationships/slideLayout" Target="../slideLayouts/slideLayout44.xml"/><Relationship Id="rId6" Type="http://schemas.openxmlformats.org/officeDocument/2006/relationships/image" Target="../media/image64.sv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14.svg"/><Relationship Id="rId9"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321A72-5C91-460A-9C74-13B75680D09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Abstract colorful grid in motion">
            <a:extLst>
              <a:ext uri="{FF2B5EF4-FFF2-40B4-BE49-F238E27FC236}">
                <a16:creationId xmlns:a16="http://schemas.microsoft.com/office/drawing/2014/main" id="{165C1C62-9C3F-41FA-950F-4E83C1DC4C8C}"/>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pic>
        <p:nvPicPr>
          <p:cNvPr id="7" name="Graphic 6">
            <a:extLst>
              <a:ext uri="{FF2B5EF4-FFF2-40B4-BE49-F238E27FC236}">
                <a16:creationId xmlns:a16="http://schemas.microsoft.com/office/drawing/2014/main" id="{E88CB310-06C6-4B7E-8F2C-5F38E8BB8B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125" y="884336"/>
            <a:ext cx="4391025" cy="3454300"/>
          </a:xfrm>
          <a:prstGeom prst="rect">
            <a:avLst/>
          </a:prstGeom>
        </p:spPr>
      </p:pic>
      <p:sp>
        <p:nvSpPr>
          <p:cNvPr id="8" name="TextBox 7">
            <a:extLst>
              <a:ext uri="{FF2B5EF4-FFF2-40B4-BE49-F238E27FC236}">
                <a16:creationId xmlns:a16="http://schemas.microsoft.com/office/drawing/2014/main" id="{AA8B7E19-DE33-48C9-B4E1-C6435C06CEFE}"/>
              </a:ext>
            </a:extLst>
          </p:cNvPr>
          <p:cNvSpPr txBox="1"/>
          <p:nvPr/>
        </p:nvSpPr>
        <p:spPr>
          <a:xfrm>
            <a:off x="885826" y="1093886"/>
            <a:ext cx="3962400" cy="3073300"/>
          </a:xfrm>
          <a:prstGeom prst="rect">
            <a:avLst/>
          </a:prstGeom>
          <a:noFill/>
        </p:spPr>
        <p:txBody>
          <a:bodyPr wrap="square" rtlCol="0">
            <a:normAutofit fontScale="62500" lnSpcReduction="20000"/>
          </a:bodyPr>
          <a:lstStyle/>
          <a:p>
            <a:pPr marL="0" algn="l">
              <a:spcBef>
                <a:spcPts val="1650"/>
              </a:spcBef>
              <a:spcAft>
                <a:spcPts val="1350"/>
              </a:spcAft>
              <a:buNone/>
            </a:pPr>
            <a:r>
              <a:rPr b="1" cap="all" dirty="0">
                <a:solidFill>
                  <a:srgbClr val="FFFFFF"/>
                </a:solidFill>
                <a:effectLst/>
                <a:latin typeface="Grandview Display" panose="020B0502040204020203" pitchFamily="34" charset="0"/>
              </a:rPr>
              <a:t>NAIVE BAYES CON KDE</a:t>
            </a:r>
            <a:br>
              <a:rPr b="1" cap="all" dirty="0">
                <a:solidFill>
                  <a:srgbClr val="FFFFFF"/>
                </a:solidFill>
                <a:effectLst/>
                <a:latin typeface="Grandview Display" panose="020B0502040204020203" pitchFamily="34" charset="0"/>
              </a:rPr>
            </a:br>
            <a:r>
              <a:rPr b="1" cap="all" dirty="0">
                <a:solidFill>
                  <a:srgbClr val="FFFFFF"/>
                </a:solidFill>
                <a:effectLst/>
                <a:latin typeface="Grandview Display" panose="020B0502040204020203" pitchFamily="34" charset="0"/>
              </a:rPr>
              <a:t>PARA MANTENIMIENTO PREDICTIVO</a:t>
            </a:r>
            <a:endParaRPr lang="es-PA" b="1" cap="all" dirty="0">
              <a:solidFill>
                <a:srgbClr val="FFFFFF"/>
              </a:solidFill>
              <a:effectLst/>
              <a:latin typeface="Grandview Display" panose="020B0502040204020203" pitchFamily="34" charset="0"/>
            </a:endParaRPr>
          </a:p>
          <a:p>
            <a:pPr marL="0" algn="l">
              <a:spcBef>
                <a:spcPts val="1650"/>
              </a:spcBef>
              <a:spcAft>
                <a:spcPts val="1350"/>
              </a:spcAft>
              <a:buNone/>
            </a:pPr>
            <a:endParaRPr lang="es-PA" b="1" cap="all" dirty="0">
              <a:solidFill>
                <a:srgbClr val="FFFFFF"/>
              </a:solidFill>
              <a:latin typeface="Grandview Display" panose="020B0502040204020203" pitchFamily="34" charset="0"/>
            </a:endParaRPr>
          </a:p>
          <a:p>
            <a:pPr marL="0" algn="l">
              <a:spcBef>
                <a:spcPts val="1650"/>
              </a:spcBef>
              <a:spcAft>
                <a:spcPts val="1350"/>
              </a:spcAft>
              <a:buNone/>
            </a:pPr>
            <a:endParaRPr lang="es-PA" b="1" cap="all" dirty="0">
              <a:solidFill>
                <a:srgbClr val="FFFFFF"/>
              </a:solidFill>
              <a:effectLst/>
              <a:latin typeface="Grandview Display" panose="020B0502040204020203" pitchFamily="34" charset="0"/>
            </a:endParaRPr>
          </a:p>
          <a:p>
            <a:pPr marL="0" algn="l">
              <a:spcBef>
                <a:spcPts val="1650"/>
              </a:spcBef>
              <a:spcAft>
                <a:spcPts val="1350"/>
              </a:spcAft>
              <a:buNone/>
            </a:pPr>
            <a:r>
              <a:rPr lang="es-PA" b="1" cap="all" dirty="0">
                <a:solidFill>
                  <a:srgbClr val="FFFFFF"/>
                </a:solidFill>
                <a:latin typeface="Grandview Display" panose="020B0502040204020203" pitchFamily="34" charset="0"/>
              </a:rPr>
              <a:t>Ariel Ortega</a:t>
            </a:r>
          </a:p>
          <a:p>
            <a:pPr marL="0" algn="l">
              <a:spcBef>
                <a:spcPts val="1650"/>
              </a:spcBef>
              <a:spcAft>
                <a:spcPts val="1350"/>
              </a:spcAft>
              <a:buNone/>
            </a:pPr>
            <a:r>
              <a:rPr lang="es-PA" b="1" cap="all" dirty="0">
                <a:solidFill>
                  <a:srgbClr val="FFFFFF"/>
                </a:solidFill>
                <a:effectLst/>
                <a:latin typeface="Grandview Display" panose="020B0502040204020203" pitchFamily="34" charset="0"/>
              </a:rPr>
              <a:t>8-808-2210</a:t>
            </a:r>
          </a:p>
          <a:p>
            <a:pPr marL="0" algn="l">
              <a:spcBef>
                <a:spcPts val="1650"/>
              </a:spcBef>
              <a:spcAft>
                <a:spcPts val="1350"/>
              </a:spcAft>
              <a:buNone/>
            </a:pPr>
            <a:r>
              <a:rPr b="1" cap="all" dirty="0">
                <a:solidFill>
                  <a:srgbClr val="FFFFFF"/>
                </a:solidFill>
                <a:effectLst/>
                <a:latin typeface="Grandview Display" panose="020B0502040204020203" pitchFamily="34" charset="0"/>
              </a:rPr>
              <a:t> </a:t>
            </a:r>
            <a:endParaRPr lang="en-US" dirty="0"/>
          </a:p>
        </p:txBody>
      </p:sp>
      <p:sp>
        <p:nvSpPr>
          <p:cNvPr id="9" name="TextBox 8">
            <a:extLst>
              <a:ext uri="{FF2B5EF4-FFF2-40B4-BE49-F238E27FC236}">
                <a16:creationId xmlns:a16="http://schemas.microsoft.com/office/drawing/2014/main" id="{5AFF7660-DE77-4337-880D-993F7764C53B}"/>
              </a:ext>
            </a:extLst>
          </p:cNvPr>
          <p:cNvSpPr txBox="1"/>
          <p:nvPr/>
        </p:nvSpPr>
        <p:spPr>
          <a:xfrm>
            <a:off x="619125" y="5345310"/>
            <a:ext cx="4391025" cy="1047452"/>
          </a:xfrm>
          <a:prstGeom prst="rect">
            <a:avLst/>
          </a:prstGeom>
          <a:noFill/>
        </p:spPr>
        <p:txBody>
          <a:bodyPr wrap="square" rtlCol="0">
            <a:normAutofit/>
          </a:bodyPr>
          <a:lstStyle/>
          <a:p>
            <a:pPr marL="0" algn="l">
              <a:buNone/>
            </a:pPr>
            <a:r>
              <a:rPr sz="2200" b="0">
                <a:solidFill>
                  <a:srgbClr val="FFFFFF"/>
                </a:solidFill>
                <a:effectLst/>
                <a:latin typeface="Grandview Display" panose="020B0502040204020203" pitchFamily="34" charset="0"/>
              </a:rPr>
              <a:t>Modelado probabilístico para detección temprana de fallas con datos de sensores </a:t>
            </a:r>
            <a:endParaRPr lang="en-US"/>
          </a:p>
        </p:txBody>
      </p:sp>
    </p:spTree>
    <p:extLst>
      <p:ext uri="{BB962C8B-B14F-4D97-AF65-F5344CB8AC3E}">
        <p14:creationId xmlns:p14="http://schemas.microsoft.com/office/powerpoint/2010/main" val="103953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FFC914-24D6-4463-8700-EECCDED0CD0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A0012D39-D389-4F3C-A93B-19855678FC2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695825"/>
            <a:ext cx="10553700" cy="1333500"/>
          </a:xfrm>
          <a:prstGeom prst="rect">
            <a:avLst/>
          </a:prstGeom>
        </p:spPr>
      </p:pic>
      <p:sp>
        <p:nvSpPr>
          <p:cNvPr id="7" name="TextBox 6">
            <a:extLst>
              <a:ext uri="{FF2B5EF4-FFF2-40B4-BE49-F238E27FC236}">
                <a16:creationId xmlns:a16="http://schemas.microsoft.com/office/drawing/2014/main" id="{8ECB94FD-F9C5-46BB-BC38-3AADABAD8BF9}"/>
              </a:ext>
            </a:extLst>
          </p:cNvPr>
          <p:cNvSpPr txBox="1"/>
          <p:nvPr/>
        </p:nvSpPr>
        <p:spPr>
          <a:xfrm>
            <a:off x="828675" y="4695825"/>
            <a:ext cx="10553700" cy="603349"/>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CONTEXTO GENERAL DEL PROYECTO</a:t>
            </a:r>
            <a:r>
              <a:rPr>
                <a:effectLst/>
              </a:rPr>
              <a:t> </a:t>
            </a:r>
            <a:endParaRPr lang="en-US"/>
          </a:p>
        </p:txBody>
      </p:sp>
    </p:spTree>
    <p:extLst>
      <p:ext uri="{BB962C8B-B14F-4D97-AF65-F5344CB8AC3E}">
        <p14:creationId xmlns:p14="http://schemas.microsoft.com/office/powerpoint/2010/main" val="301450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FBDBF2-FA75-4200-B59C-65356F2015A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Forklift, Electric Car, Freight Transportation, Service, Repairing">
            <a:extLst>
              <a:ext uri="{FF2B5EF4-FFF2-40B4-BE49-F238E27FC236}">
                <a16:creationId xmlns:a16="http://schemas.microsoft.com/office/drawing/2014/main" id="{6D81621D-3EBB-42B2-A81A-2867BDD357C8}"/>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pic>
        <p:nvPicPr>
          <p:cNvPr id="7" name="Graphic 6">
            <a:extLst>
              <a:ext uri="{FF2B5EF4-FFF2-40B4-BE49-F238E27FC236}">
                <a16:creationId xmlns:a16="http://schemas.microsoft.com/office/drawing/2014/main" id="{1FB210F9-BA23-424B-8539-099F6F4811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5334000" cy="1809750"/>
          </a:xfrm>
          <a:prstGeom prst="rect">
            <a:avLst/>
          </a:prstGeom>
        </p:spPr>
      </p:pic>
      <p:pic>
        <p:nvPicPr>
          <p:cNvPr id="8" name="Graphic 7">
            <a:extLst>
              <a:ext uri="{FF2B5EF4-FFF2-40B4-BE49-F238E27FC236}">
                <a16:creationId xmlns:a16="http://schemas.microsoft.com/office/drawing/2014/main" id="{FA29CDCF-CFC8-41C9-8C8C-8B923C13BF3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1809750"/>
            <a:ext cx="5334000" cy="5048250"/>
          </a:xfrm>
          <a:prstGeom prst="rect">
            <a:avLst/>
          </a:prstGeom>
        </p:spPr>
      </p:pic>
      <p:sp>
        <p:nvSpPr>
          <p:cNvPr id="9" name="TextBox 8">
            <a:extLst>
              <a:ext uri="{FF2B5EF4-FFF2-40B4-BE49-F238E27FC236}">
                <a16:creationId xmlns:a16="http://schemas.microsoft.com/office/drawing/2014/main" id="{2D6FA93E-23C6-4DF7-BD5C-70B17E67D636}"/>
              </a:ext>
            </a:extLst>
          </p:cNvPr>
          <p:cNvSpPr txBox="1"/>
          <p:nvPr/>
        </p:nvSpPr>
        <p:spPr>
          <a:xfrm>
            <a:off x="609600" y="533400"/>
            <a:ext cx="5334000" cy="1222771"/>
          </a:xfrm>
          <a:prstGeom prst="rect">
            <a:avLst/>
          </a:prstGeom>
          <a:noFill/>
        </p:spPr>
        <p:txBody>
          <a:bodyPr wrap="square" rtlCol="0">
            <a:normAutofit/>
          </a:bodyPr>
          <a:lstStyle/>
          <a:p>
            <a:pPr marL="0" algn="l">
              <a:spcBef>
                <a:spcPts val="4200"/>
              </a:spcBef>
              <a:buNone/>
            </a:pPr>
            <a:r>
              <a:rPr sz="3200" b="1" cap="all">
                <a:solidFill>
                  <a:srgbClr val="FFFFFF"/>
                </a:solidFill>
                <a:effectLst/>
                <a:latin typeface="Grandview Display" panose="020B0502040204020203" pitchFamily="34" charset="0"/>
              </a:rPr>
              <a:t>PORTADA Y CONTEXTO </a:t>
            </a:r>
            <a:endParaRPr>
              <a:effectLst/>
            </a:endParaRPr>
          </a:p>
          <a:p>
            <a:pPr marL="0" algn="l">
              <a:spcBef>
                <a:spcPts val="1050"/>
              </a:spcBef>
              <a:buNone/>
            </a:pPr>
            <a:r>
              <a:rPr sz="2200" b="0">
                <a:solidFill>
                  <a:srgbClr val="FFFFFF"/>
                </a:solidFill>
                <a:effectLst/>
                <a:latin typeface="Grandview Display" panose="020B0502040204020203" pitchFamily="34" charset="0"/>
              </a:rPr>
              <a:t>Proyecto 1 — Inteligencia Artificial (Cuatrimestre III 2025) </a:t>
            </a:r>
            <a:endParaRPr lang="en-US"/>
          </a:p>
        </p:txBody>
      </p:sp>
      <p:sp>
        <p:nvSpPr>
          <p:cNvPr id="10" name="TextBox 9">
            <a:extLst>
              <a:ext uri="{FF2B5EF4-FFF2-40B4-BE49-F238E27FC236}">
                <a16:creationId xmlns:a16="http://schemas.microsoft.com/office/drawing/2014/main" id="{86D3854B-4A99-430C-A8B1-A94ABF99E0BC}"/>
              </a:ext>
            </a:extLst>
          </p:cNvPr>
          <p:cNvSpPr txBox="1"/>
          <p:nvPr/>
        </p:nvSpPr>
        <p:spPr>
          <a:xfrm>
            <a:off x="609600" y="2133600"/>
            <a:ext cx="5334000" cy="4667250"/>
          </a:xfrm>
          <a:prstGeom prst="rect">
            <a:avLst/>
          </a:prstGeom>
          <a:noFill/>
        </p:spPr>
        <p:txBody>
          <a:bodyPr wrap="square" rtlCol="0">
            <a:normAutofit/>
          </a:bodyPr>
          <a:lstStyle/>
          <a:p>
            <a:pPr marL="0" algn="l">
              <a:spcBef>
                <a:spcPts val="2550"/>
              </a:spcBef>
              <a:buNone/>
            </a:pPr>
            <a:r>
              <a:rPr sz="1799" b="1" cap="all">
                <a:solidFill>
                  <a:srgbClr val="FFFFFF"/>
                </a:solidFill>
                <a:effectLst/>
                <a:latin typeface="Grandview Display" panose="020B0502040204020203" pitchFamily="34" charset="0"/>
              </a:rPr>
              <a:t>Contexto académico </a:t>
            </a:r>
            <a:endParaRPr>
              <a:effectLst/>
            </a:endParaRPr>
          </a:p>
          <a:p>
            <a:pPr marL="0" algn="l">
              <a:spcBef>
                <a:spcPts val="750"/>
              </a:spcBef>
              <a:buNone/>
            </a:pPr>
            <a:r>
              <a:rPr sz="1799" b="0">
                <a:solidFill>
                  <a:srgbClr val="FFFFFF"/>
                </a:solidFill>
                <a:effectLst/>
                <a:latin typeface="Grandview Display" panose="020B0502040204020203" pitchFamily="34" charset="0"/>
              </a:rPr>
              <a:t>Clasificación con Naive Bayes aplicada a mantenimiento predictivo industrial, usando el dataset AI4I 2020 Predictive Maintenance. </a:t>
            </a:r>
            <a:endParaRPr>
              <a:effectLst/>
            </a:endParaRPr>
          </a:p>
          <a:p>
            <a:pPr marL="0" algn="l">
              <a:spcBef>
                <a:spcPts val="1650"/>
              </a:spcBef>
              <a:buNone/>
            </a:pPr>
            <a:r>
              <a:rPr sz="1799" b="1" cap="all">
                <a:solidFill>
                  <a:srgbClr val="FFFFFF"/>
                </a:solidFill>
                <a:effectLst/>
                <a:latin typeface="Grandview Display" panose="020B0502040204020203" pitchFamily="34" charset="0"/>
              </a:rPr>
              <a:t>Objetivo central </a:t>
            </a:r>
            <a:endParaRPr>
              <a:effectLst/>
            </a:endParaRPr>
          </a:p>
          <a:p>
            <a:pPr marL="0" algn="l">
              <a:spcBef>
                <a:spcPts val="750"/>
              </a:spcBef>
              <a:buNone/>
            </a:pPr>
            <a:r>
              <a:rPr sz="1799" b="0">
                <a:solidFill>
                  <a:srgbClr val="FFFFFF"/>
                </a:solidFill>
                <a:effectLst/>
                <a:latin typeface="Grandview Display" panose="020B0502040204020203" pitchFamily="34" charset="0"/>
              </a:rPr>
              <a:t>Evaluar si reemplazar la suposición gaussiana por Kernel Density Estimation (KDE) mejora el desempeño, especialmente con datos altamente desbalanceados. </a:t>
            </a:r>
            <a:endParaRPr>
              <a:effectLst/>
            </a:endParaRPr>
          </a:p>
          <a:p>
            <a:pPr marL="0" algn="l">
              <a:spcBef>
                <a:spcPts val="1650"/>
              </a:spcBef>
              <a:buNone/>
            </a:pPr>
            <a:r>
              <a:rPr sz="1799" b="1" cap="all">
                <a:solidFill>
                  <a:srgbClr val="FFFFFF"/>
                </a:solidFill>
                <a:effectLst/>
                <a:latin typeface="Grandview Display" panose="020B0502040204020203" pitchFamily="34" charset="0"/>
              </a:rPr>
              <a:t>Desarrollo y enfoque </a:t>
            </a:r>
            <a:endParaRPr>
              <a:effectLst/>
            </a:endParaRPr>
          </a:p>
          <a:p>
            <a:pPr marL="0" algn="l">
              <a:spcBef>
                <a:spcPts val="750"/>
              </a:spcBef>
              <a:buNone/>
            </a:pPr>
            <a:r>
              <a:rPr sz="1799" b="0">
                <a:solidFill>
                  <a:srgbClr val="FFFFFF"/>
                </a:solidFill>
                <a:effectLst/>
                <a:latin typeface="Grandview Display" panose="020B0502040204020203" pitchFamily="34" charset="0"/>
              </a:rPr>
              <a:t>Trabajo individual (Ariel Ortega): EDA, preprocesamiento, modelado, validación cruzada y análisis crítico; presentación pensada para ~15 minutos. </a:t>
            </a:r>
            <a:endParaRPr lang="en-US"/>
          </a:p>
        </p:txBody>
      </p:sp>
    </p:spTree>
    <p:extLst>
      <p:ext uri="{BB962C8B-B14F-4D97-AF65-F5344CB8AC3E}">
        <p14:creationId xmlns:p14="http://schemas.microsoft.com/office/powerpoint/2010/main" val="3326629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7706C2-C399-437F-A1E5-831A25B6CBC7}"/>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0CAFB5FD-8343-4486-9986-7CA8F9A7198A}"/>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714875"/>
            <a:ext cx="10553700" cy="1143000"/>
          </a:xfrm>
          <a:prstGeom prst="rect">
            <a:avLst/>
          </a:prstGeom>
        </p:spPr>
      </p:pic>
      <p:sp>
        <p:nvSpPr>
          <p:cNvPr id="7" name="TextBox 6">
            <a:extLst>
              <a:ext uri="{FF2B5EF4-FFF2-40B4-BE49-F238E27FC236}">
                <a16:creationId xmlns:a16="http://schemas.microsoft.com/office/drawing/2014/main" id="{2D87D80F-8940-45E5-989C-C182DF1CB4DC}"/>
              </a:ext>
            </a:extLst>
          </p:cNvPr>
          <p:cNvSpPr txBox="1"/>
          <p:nvPr/>
        </p:nvSpPr>
        <p:spPr>
          <a:xfrm>
            <a:off x="828675" y="4505325"/>
            <a:ext cx="10553700" cy="522386"/>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FUNDAMENTOS Y MOTIVACIÓN TEÓRICA</a:t>
            </a:r>
            <a:r>
              <a:rPr>
                <a:effectLst/>
              </a:rPr>
              <a:t> </a:t>
            </a:r>
            <a:endParaRPr lang="en-US"/>
          </a:p>
        </p:txBody>
      </p:sp>
    </p:spTree>
    <p:extLst>
      <p:ext uri="{BB962C8B-B14F-4D97-AF65-F5344CB8AC3E}">
        <p14:creationId xmlns:p14="http://schemas.microsoft.com/office/powerpoint/2010/main" val="3312623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9938B7-7258-4A0A-A0D9-9E362DAB989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14AD8526-7240-46B2-B448-57CF700E827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5334000" cy="6858000"/>
          </a:xfrm>
          <a:prstGeom prst="rect">
            <a:avLst/>
          </a:prstGeom>
        </p:spPr>
      </p:pic>
      <p:pic>
        <p:nvPicPr>
          <p:cNvPr id="7" name="Picture 6" descr="A molecular model of Human Insulin. Isolated on black.">
            <a:extLst>
              <a:ext uri="{FF2B5EF4-FFF2-40B4-BE49-F238E27FC236}">
                <a16:creationId xmlns:a16="http://schemas.microsoft.com/office/drawing/2014/main" id="{2C1A9118-F91B-45D8-AB69-363106B458B4}"/>
              </a:ext>
            </a:extLst>
          </p:cNvPr>
          <p:cNvPicPr>
            <a:picLocks noChangeAspect="1"/>
          </p:cNvPicPr>
          <p:nvPr/>
        </p:nvPicPr>
        <p:blipFill>
          <a:blip r:embed="rId7"/>
          <a:stretch>
            <a:fillRect/>
          </a:stretch>
        </p:blipFill>
        <p:spPr>
          <a:xfrm>
            <a:off x="5334000" y="0"/>
            <a:ext cx="6858000" cy="6858000"/>
          </a:xfrm>
          <a:prstGeom prst="rect">
            <a:avLst/>
          </a:prstGeom>
        </p:spPr>
      </p:pic>
      <p:pic>
        <p:nvPicPr>
          <p:cNvPr id="8" name="Graphic 7">
            <a:extLst>
              <a:ext uri="{FF2B5EF4-FFF2-40B4-BE49-F238E27FC236}">
                <a16:creationId xmlns:a16="http://schemas.microsoft.com/office/drawing/2014/main" id="{52718E71-CD3B-46EC-85EB-78840BEE4F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9125" y="542925"/>
            <a:ext cx="4391025" cy="1028700"/>
          </a:xfrm>
          <a:prstGeom prst="rect">
            <a:avLst/>
          </a:prstGeom>
        </p:spPr>
      </p:pic>
      <p:sp>
        <p:nvSpPr>
          <p:cNvPr id="9" name="TextBox 8">
            <a:extLst>
              <a:ext uri="{FF2B5EF4-FFF2-40B4-BE49-F238E27FC236}">
                <a16:creationId xmlns:a16="http://schemas.microsoft.com/office/drawing/2014/main" id="{00FF3D44-7065-47A4-995F-E4360363B8F5}"/>
              </a:ext>
            </a:extLst>
          </p:cNvPr>
          <p:cNvSpPr txBox="1"/>
          <p:nvPr/>
        </p:nvSpPr>
        <p:spPr>
          <a:xfrm>
            <a:off x="619125" y="542925"/>
            <a:ext cx="4391025" cy="894159"/>
          </a:xfrm>
          <a:prstGeom prst="rect">
            <a:avLst/>
          </a:prstGeom>
          <a:noFill/>
        </p:spPr>
        <p:txBody>
          <a:bodyPr wrap="square" rtlCol="0">
            <a:normAutofit/>
          </a:bodyPr>
          <a:lstStyle/>
          <a:p>
            <a:pPr marL="0" algn="l">
              <a:buNone/>
            </a:pPr>
            <a:r>
              <a:rPr sz="3200" b="1" cap="all">
                <a:solidFill>
                  <a:srgbClr val="FFFFFF"/>
                </a:solidFill>
                <a:effectLst/>
                <a:latin typeface="Grandview Display" panose="020B0502040204020203" pitchFamily="34" charset="0"/>
              </a:rPr>
              <a:t>NAIVE BAYES Y MOTIVACIÓN KDE </a:t>
            </a:r>
            <a:endParaRPr lang="en-US"/>
          </a:p>
        </p:txBody>
      </p:sp>
      <p:sp>
        <p:nvSpPr>
          <p:cNvPr id="10" name="TextBox 9">
            <a:extLst>
              <a:ext uri="{FF2B5EF4-FFF2-40B4-BE49-F238E27FC236}">
                <a16:creationId xmlns:a16="http://schemas.microsoft.com/office/drawing/2014/main" id="{A458565B-808C-4945-B24A-7A427BEBFEFF}"/>
              </a:ext>
            </a:extLst>
          </p:cNvPr>
          <p:cNvSpPr txBox="1"/>
          <p:nvPr/>
        </p:nvSpPr>
        <p:spPr>
          <a:xfrm>
            <a:off x="619125" y="1684734"/>
            <a:ext cx="4391025" cy="4560391"/>
          </a:xfrm>
          <a:prstGeom prst="rect">
            <a:avLst/>
          </a:prstGeom>
          <a:noFill/>
        </p:spPr>
        <p:txBody>
          <a:bodyPr wrap="square" rtlCol="0">
            <a:normAutofit/>
          </a:bodyPr>
          <a:lstStyle/>
          <a:p>
            <a:pPr marL="0" algn="l">
              <a:buNone/>
            </a:pPr>
            <a:r>
              <a:rPr sz="1800" b="1">
                <a:solidFill>
                  <a:srgbClr val="FFFFFF"/>
                </a:solidFill>
                <a:effectLst/>
                <a:latin typeface="Grandview Display" panose="020B0502040204020203" pitchFamily="34" charset="0"/>
              </a:rPr>
              <a:t>Naive Bayes (idea base) </a:t>
            </a:r>
            <a:endParaRPr>
              <a:effectLst/>
            </a:endParaRPr>
          </a:p>
          <a:p>
            <a:pPr marL="0" algn="l">
              <a:spcBef>
                <a:spcPts val="750"/>
              </a:spcBef>
              <a:buNone/>
            </a:pPr>
            <a:r>
              <a:rPr sz="1800" b="0">
                <a:solidFill>
                  <a:srgbClr val="FFFFFF"/>
                </a:solidFill>
                <a:effectLst/>
                <a:latin typeface="Grandview Display" panose="020B0502040204020203" pitchFamily="34" charset="0"/>
              </a:rPr>
              <a:t>Clasificador probabilístico basado en Bayes, con independencia condicional entre variables dado la clase. </a:t>
            </a:r>
            <a:endParaRPr>
              <a:effectLst/>
            </a:endParaRPr>
          </a:p>
          <a:p>
            <a:pPr marL="0" algn="l">
              <a:spcBef>
                <a:spcPts val="1350"/>
              </a:spcBef>
              <a:buNone/>
            </a:pPr>
            <a:r>
              <a:rPr sz="1800" b="1">
                <a:solidFill>
                  <a:srgbClr val="FFFFFF"/>
                </a:solidFill>
                <a:effectLst/>
                <a:latin typeface="Grandview Display" panose="020B0502040204020203" pitchFamily="34" charset="0"/>
              </a:rPr>
              <a:t>Gaussian Naive Bayes (supuesto) </a:t>
            </a:r>
            <a:endParaRPr>
              <a:effectLst/>
            </a:endParaRPr>
          </a:p>
          <a:p>
            <a:pPr marL="0" algn="l">
              <a:spcBef>
                <a:spcPts val="750"/>
              </a:spcBef>
              <a:buNone/>
            </a:pPr>
            <a:r>
              <a:rPr sz="1800" b="0">
                <a:solidFill>
                  <a:srgbClr val="FFFFFF"/>
                </a:solidFill>
                <a:effectLst/>
                <a:latin typeface="Grandview Display" panose="020B0502040204020203" pitchFamily="34" charset="0"/>
              </a:rPr>
              <a:t>Modela cada variable con una normal por clase, estimando verosimilitud con media y varianza. </a:t>
            </a:r>
            <a:endParaRPr>
              <a:effectLst/>
            </a:endParaRPr>
          </a:p>
          <a:p>
            <a:pPr marL="0" algn="l">
              <a:spcBef>
                <a:spcPts val="1350"/>
              </a:spcBef>
              <a:buNone/>
            </a:pPr>
            <a:r>
              <a:rPr sz="1800" b="1">
                <a:solidFill>
                  <a:srgbClr val="FFFFFF"/>
                </a:solidFill>
                <a:effectLst/>
                <a:latin typeface="Grandview Display" panose="020B0502040204020203" pitchFamily="34" charset="0"/>
              </a:rPr>
              <a:t>¿Por qué KDE? </a:t>
            </a:r>
            <a:endParaRPr>
              <a:effectLst/>
            </a:endParaRPr>
          </a:p>
          <a:p>
            <a:pPr marL="0" algn="l">
              <a:spcBef>
                <a:spcPts val="750"/>
              </a:spcBef>
              <a:buNone/>
            </a:pPr>
            <a:r>
              <a:rPr sz="1800" b="0">
                <a:solidFill>
                  <a:srgbClr val="FFFFFF"/>
                </a:solidFill>
                <a:effectLst/>
                <a:latin typeface="Grandview Display" panose="020B0502040204020203" pitchFamily="34" charset="0"/>
              </a:rPr>
              <a:t>KDE estima densidades sin forma fija y captura asimetrías, colas pesadas o multimodalidad (bandwidth = suavizado). La pregunta: ¿mejora el AUC ROC y vale el costo computacional? </a:t>
            </a:r>
            <a:endParaRPr lang="en-US"/>
          </a:p>
        </p:txBody>
      </p:sp>
    </p:spTree>
    <p:extLst>
      <p:ext uri="{BB962C8B-B14F-4D97-AF65-F5344CB8AC3E}">
        <p14:creationId xmlns:p14="http://schemas.microsoft.com/office/powerpoint/2010/main" val="3110370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482489-35AF-4FEA-8290-7195321F407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8AD6D9F8-BE58-430A-BA58-87DCACE1FD9A}"/>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695825"/>
            <a:ext cx="9334500" cy="1333500"/>
          </a:xfrm>
          <a:prstGeom prst="rect">
            <a:avLst/>
          </a:prstGeom>
        </p:spPr>
      </p:pic>
      <p:sp>
        <p:nvSpPr>
          <p:cNvPr id="7" name="TextBox 6">
            <a:extLst>
              <a:ext uri="{FF2B5EF4-FFF2-40B4-BE49-F238E27FC236}">
                <a16:creationId xmlns:a16="http://schemas.microsoft.com/office/drawing/2014/main" id="{A306E2EC-712B-4ACA-875B-164D2022A48A}"/>
              </a:ext>
            </a:extLst>
          </p:cNvPr>
          <p:cNvSpPr txBox="1"/>
          <p:nvPr/>
        </p:nvSpPr>
        <p:spPr>
          <a:xfrm>
            <a:off x="828675" y="4695825"/>
            <a:ext cx="9334500" cy="461962"/>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DATOS Y PROBLEMA ABORDADO</a:t>
            </a:r>
            <a:r>
              <a:rPr>
                <a:effectLst/>
              </a:rPr>
              <a:t> </a:t>
            </a:r>
            <a:endParaRPr lang="en-US"/>
          </a:p>
        </p:txBody>
      </p:sp>
    </p:spTree>
    <p:extLst>
      <p:ext uri="{BB962C8B-B14F-4D97-AF65-F5344CB8AC3E}">
        <p14:creationId xmlns:p14="http://schemas.microsoft.com/office/powerpoint/2010/main" val="188688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265210F-7780-48DB-8BAE-D17012FD7F1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BF8B47EE-A974-4F22-A7E6-69544BA3A3A8}"/>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374754" y="-87443"/>
            <a:ext cx="6858000" cy="6858000"/>
          </a:xfrm>
          <a:prstGeom prst="rect">
            <a:avLst/>
          </a:prstGeom>
        </p:spPr>
      </p:pic>
      <p:pic>
        <p:nvPicPr>
          <p:cNvPr id="7" name="Graphic 6">
            <a:extLst>
              <a:ext uri="{FF2B5EF4-FFF2-40B4-BE49-F238E27FC236}">
                <a16:creationId xmlns:a16="http://schemas.microsoft.com/office/drawing/2014/main" id="{8154D314-3357-46A8-83D5-CC090783C8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0900" y="581025"/>
            <a:ext cx="4391025" cy="838200"/>
          </a:xfrm>
          <a:prstGeom prst="rect">
            <a:avLst/>
          </a:prstGeom>
        </p:spPr>
      </p:pic>
      <p:sp>
        <p:nvSpPr>
          <p:cNvPr id="8" name="TextBox 7">
            <a:extLst>
              <a:ext uri="{FF2B5EF4-FFF2-40B4-BE49-F238E27FC236}">
                <a16:creationId xmlns:a16="http://schemas.microsoft.com/office/drawing/2014/main" id="{CC7E008F-7FA4-47F6-BE41-A1B4CC14F09D}"/>
              </a:ext>
            </a:extLst>
          </p:cNvPr>
          <p:cNvSpPr txBox="1"/>
          <p:nvPr/>
        </p:nvSpPr>
        <p:spPr>
          <a:xfrm>
            <a:off x="7200900" y="581025"/>
            <a:ext cx="4391025" cy="335160"/>
          </a:xfrm>
          <a:prstGeom prst="rect">
            <a:avLst/>
          </a:prstGeom>
          <a:noFill/>
        </p:spPr>
        <p:txBody>
          <a:bodyPr wrap="square" rtlCol="0">
            <a:normAutofit/>
          </a:bodyPr>
          <a:lstStyle/>
          <a:p>
            <a:pPr marL="0" algn="l">
              <a:buNone/>
            </a:pPr>
            <a:r>
              <a:rPr b="1" cap="all">
                <a:solidFill>
                  <a:srgbClr val="FFFFFF"/>
                </a:solidFill>
                <a:effectLst/>
                <a:latin typeface="Grandview Display" panose="020B0502040204020203" pitchFamily="34" charset="0"/>
              </a:rPr>
              <a:t>Dataset AI4I 2020 </a:t>
            </a:r>
            <a:endParaRPr lang="en-US"/>
          </a:p>
        </p:txBody>
      </p:sp>
      <p:sp>
        <p:nvSpPr>
          <p:cNvPr id="9" name="TextBox 8">
            <a:extLst>
              <a:ext uri="{FF2B5EF4-FFF2-40B4-BE49-F238E27FC236}">
                <a16:creationId xmlns:a16="http://schemas.microsoft.com/office/drawing/2014/main" id="{2C23543C-629B-4F95-8AA4-2E93FF717386}"/>
              </a:ext>
            </a:extLst>
          </p:cNvPr>
          <p:cNvSpPr txBox="1"/>
          <p:nvPr/>
        </p:nvSpPr>
        <p:spPr>
          <a:xfrm>
            <a:off x="7200900" y="1259085"/>
            <a:ext cx="4391025" cy="2084040"/>
          </a:xfrm>
          <a:prstGeom prst="rect">
            <a:avLst/>
          </a:prstGeom>
          <a:noFill/>
        </p:spPr>
        <p:txBody>
          <a:bodyPr wrap="square" rtlCol="0">
            <a:normAutofit/>
          </a:bodyPr>
          <a:lstStyle/>
          <a:p>
            <a:pPr marL="0" algn="l">
              <a:buNone/>
            </a:pPr>
            <a:r>
              <a:rPr sz="1800" b="1">
                <a:solidFill>
                  <a:srgbClr val="000000"/>
                </a:solidFill>
                <a:effectLst/>
                <a:latin typeface="Grandview Display" panose="020B0502040204020203" pitchFamily="34" charset="0"/>
              </a:rPr>
              <a:t>¿Qué contiene? </a:t>
            </a:r>
            <a:endParaRPr>
              <a:effectLst/>
            </a:endParaRPr>
          </a:p>
          <a:p>
            <a:pPr marL="0" algn="l">
              <a:spcBef>
                <a:spcPts val="750"/>
              </a:spcBef>
              <a:buNone/>
            </a:pPr>
            <a:r>
              <a:rPr sz="1800" b="0">
                <a:solidFill>
                  <a:srgbClr val="000000"/>
                </a:solidFill>
                <a:effectLst/>
                <a:latin typeface="Grandview Display" panose="020B0502040204020203" pitchFamily="34" charset="0"/>
              </a:rPr>
              <a:t>10,000 muestras del estado operativo de máquinas industriales para predecir falla vs. no falla (clasificación binaria), con variables físicas como temperaturas, velocidad rotacional, torque y desgaste de herramienta. </a:t>
            </a:r>
            <a:endParaRPr lang="en-US"/>
          </a:p>
        </p:txBody>
      </p:sp>
      <p:sp>
        <p:nvSpPr>
          <p:cNvPr id="10" name="TextBox 9">
            <a:extLst>
              <a:ext uri="{FF2B5EF4-FFF2-40B4-BE49-F238E27FC236}">
                <a16:creationId xmlns:a16="http://schemas.microsoft.com/office/drawing/2014/main" id="{4DFA9A89-E478-4C37-BED6-2E702A429FF0}"/>
              </a:ext>
            </a:extLst>
          </p:cNvPr>
          <p:cNvSpPr txBox="1"/>
          <p:nvPr/>
        </p:nvSpPr>
        <p:spPr>
          <a:xfrm>
            <a:off x="7200900" y="3514576"/>
            <a:ext cx="4391025" cy="1893540"/>
          </a:xfrm>
          <a:prstGeom prst="rect">
            <a:avLst/>
          </a:prstGeom>
          <a:noFill/>
        </p:spPr>
        <p:txBody>
          <a:bodyPr wrap="square" rtlCol="0">
            <a:normAutofit/>
          </a:bodyPr>
          <a:lstStyle/>
          <a:p>
            <a:pPr marL="0" marR="0" algn="l">
              <a:spcBef>
                <a:spcPts val="1350"/>
              </a:spcBef>
              <a:buNone/>
            </a:pPr>
            <a:r>
              <a:rPr sz="1800" b="1">
                <a:solidFill>
                  <a:srgbClr val="000000"/>
                </a:solidFill>
                <a:effectLst/>
                <a:latin typeface="Grandview Display" panose="020B0502040204020203" pitchFamily="34" charset="0"/>
              </a:rPr>
              <a:t>Desbalanceo severo </a:t>
            </a:r>
            <a:endParaRPr>
              <a:effectLst/>
            </a:endParaRPr>
          </a:p>
          <a:p>
            <a:pPr marL="0" marR="0" algn="l">
              <a:spcBef>
                <a:spcPts val="750"/>
              </a:spcBef>
              <a:buNone/>
            </a:pPr>
            <a:r>
              <a:rPr sz="1800" b="0">
                <a:solidFill>
                  <a:srgbClr val="000000"/>
                </a:solidFill>
                <a:effectLst/>
                <a:latin typeface="Grandview Display" panose="020B0502040204020203" pitchFamily="34" charset="0"/>
              </a:rPr>
              <a:t>La clase sin falla domina el dataset, lo que puede inflar métricas como accuracy y dificultar la detección de fallas reales. </a:t>
            </a:r>
            <a:endParaRPr>
              <a:effectLst/>
            </a:endParaRPr>
          </a:p>
          <a:p>
            <a:pPr marL="0" marR="0" algn="l">
              <a:spcBef>
                <a:spcPts val="750"/>
              </a:spcBef>
              <a:buNone/>
            </a:pPr>
            <a:r>
              <a:rPr sz="1800" b="1">
                <a:solidFill>
                  <a:srgbClr val="3467A7"/>
                </a:solidFill>
                <a:effectLst/>
                <a:latin typeface="Grandview Display" panose="020B0502040204020203" pitchFamily="34" charset="0"/>
              </a:rPr>
              <a:t>Key Statistic: 96.6% no falla vs. 3.4% falla </a:t>
            </a:r>
            <a:endParaRPr lang="en-US"/>
          </a:p>
        </p:txBody>
      </p:sp>
      <p:sp>
        <p:nvSpPr>
          <p:cNvPr id="11" name="TextBox 10">
            <a:extLst>
              <a:ext uri="{FF2B5EF4-FFF2-40B4-BE49-F238E27FC236}">
                <a16:creationId xmlns:a16="http://schemas.microsoft.com/office/drawing/2014/main" id="{8353A253-C1BA-451A-A8B4-898554E5FBAC}"/>
              </a:ext>
            </a:extLst>
          </p:cNvPr>
          <p:cNvSpPr txBox="1"/>
          <p:nvPr/>
        </p:nvSpPr>
        <p:spPr>
          <a:xfrm>
            <a:off x="7200900" y="5579566"/>
            <a:ext cx="4391025" cy="1512540"/>
          </a:xfrm>
          <a:prstGeom prst="rect">
            <a:avLst/>
          </a:prstGeom>
          <a:noFill/>
        </p:spPr>
        <p:txBody>
          <a:bodyPr wrap="square" rtlCol="0">
            <a:normAutofit/>
          </a:bodyPr>
          <a:lstStyle/>
          <a:p>
            <a:pPr marL="0" marR="0" algn="l">
              <a:spcBef>
                <a:spcPts val="1350"/>
              </a:spcBef>
              <a:buNone/>
            </a:pPr>
            <a:r>
              <a:rPr sz="1800" b="1">
                <a:solidFill>
                  <a:srgbClr val="000000"/>
                </a:solidFill>
                <a:effectLst/>
                <a:latin typeface="Grandview Display" panose="020B0502040204020203" pitchFamily="34" charset="0"/>
              </a:rPr>
              <a:t>Implicaciones en evaluación </a:t>
            </a:r>
            <a:endParaRPr>
              <a:effectLst/>
            </a:endParaRPr>
          </a:p>
          <a:p>
            <a:pPr marL="0" marR="0" algn="l">
              <a:spcBef>
                <a:spcPts val="750"/>
              </a:spcBef>
              <a:buNone/>
            </a:pPr>
            <a:r>
              <a:rPr sz="1800" b="0">
                <a:solidFill>
                  <a:srgbClr val="000000"/>
                </a:solidFill>
                <a:effectLst/>
                <a:latin typeface="Grandview Display" panose="020B0502040204020203" pitchFamily="34" charset="0"/>
              </a:rPr>
              <a:t>Se priorizan métricas robustas como AUC ROC para medir capacidad discriminativa más allá de un umbral fijo y evitar conclusiones engañosas. </a:t>
            </a:r>
            <a:endParaRPr lang="en-US"/>
          </a:p>
        </p:txBody>
      </p:sp>
    </p:spTree>
    <p:extLst>
      <p:ext uri="{BB962C8B-B14F-4D97-AF65-F5344CB8AC3E}">
        <p14:creationId xmlns:p14="http://schemas.microsoft.com/office/powerpoint/2010/main" val="2147793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84DAF1-B539-458F-9CEB-532BEB9B1D1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FD492C8-7C03-9A7E-226F-B1FC72A85965}"/>
              </a:ext>
            </a:extLst>
          </p:cNvPr>
          <p:cNvSpPr>
            <a:spLocks noGrp="1"/>
          </p:cNvSpPr>
          <p:nvPr>
            <p:ph sz="quarter" idx="16"/>
          </p:nvPr>
        </p:nvSpPr>
        <p:spPr>
          <a:xfrm>
            <a:off x="828675" y="5235475"/>
            <a:ext cx="10534650" cy="793849"/>
          </a:xfrm>
        </p:spPr>
        <p:txBody>
          <a:bodyPr/>
          <a:lstStyle/>
          <a:p>
            <a:pPr marL="0" marR="0" indent="0" algn="l" fontAlgn="b">
              <a:buNone/>
            </a:pPr>
            <a:r>
              <a:rPr cap="all">
                <a:solidFill>
                  <a:srgbClr val="FFFFFF"/>
                </a:solidFill>
                <a:effectLst/>
                <a:latin typeface="Grandview Display" panose="020B0502040204020203" pitchFamily="34" charset="0"/>
              </a:rPr>
              <a:t>ESTRATEGIA DE EVALUACIÓN </a:t>
            </a:r>
            <a:endParaRPr lang="en-US"/>
          </a:p>
        </p:txBody>
      </p:sp>
    </p:spTree>
    <p:extLst>
      <p:ext uri="{BB962C8B-B14F-4D97-AF65-F5344CB8AC3E}">
        <p14:creationId xmlns:p14="http://schemas.microsoft.com/office/powerpoint/2010/main" val="3650592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4B8D85-58BD-4200-82CB-B877980D5D8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F562A39F-FD9D-44F9-87F5-F5670EC1BAE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9125" y="714375"/>
            <a:ext cx="9906000" cy="685800"/>
          </a:xfrm>
          <a:prstGeom prst="rect">
            <a:avLst/>
          </a:prstGeom>
        </p:spPr>
      </p:pic>
      <p:sp>
        <p:nvSpPr>
          <p:cNvPr id="7" name="TextBox 6">
            <a:extLst>
              <a:ext uri="{FF2B5EF4-FFF2-40B4-BE49-F238E27FC236}">
                <a16:creationId xmlns:a16="http://schemas.microsoft.com/office/drawing/2014/main" id="{EAEB7595-9898-46BA-958A-77F633506674}"/>
              </a:ext>
            </a:extLst>
          </p:cNvPr>
          <p:cNvSpPr txBox="1"/>
          <p:nvPr/>
        </p:nvSpPr>
        <p:spPr>
          <a:xfrm>
            <a:off x="790575" y="542925"/>
            <a:ext cx="12172950" cy="447079"/>
          </a:xfrm>
          <a:prstGeom prst="rect">
            <a:avLst/>
          </a:prstGeom>
          <a:noFill/>
        </p:spPr>
        <p:txBody>
          <a:bodyPr wrap="square" rtlCol="0">
            <a:normAutofit/>
          </a:bodyPr>
          <a:lstStyle/>
          <a:p>
            <a:pPr marL="0" marR="0" algn="l">
              <a:buNone/>
            </a:pPr>
            <a:r>
              <a:rPr b="1" cap="all">
                <a:solidFill>
                  <a:srgbClr val="FFFFFF"/>
                </a:solidFill>
                <a:effectLst/>
                <a:latin typeface="Grandview Display" panose="020B0502040204020203" pitchFamily="34" charset="0"/>
              </a:rPr>
              <a:t>Metodología de evaluación y métricas utilizadas </a:t>
            </a:r>
            <a:endParaRPr lang="en-US"/>
          </a:p>
        </p:txBody>
      </p:sp>
      <p:sp>
        <p:nvSpPr>
          <p:cNvPr id="8" name="TextBox 7">
            <a:extLst>
              <a:ext uri="{FF2B5EF4-FFF2-40B4-BE49-F238E27FC236}">
                <a16:creationId xmlns:a16="http://schemas.microsoft.com/office/drawing/2014/main" id="{CBE6B792-30DD-4A2D-BC99-28FCFDFE5B3F}"/>
              </a:ext>
            </a:extLst>
          </p:cNvPr>
          <p:cNvSpPr txBox="1"/>
          <p:nvPr/>
        </p:nvSpPr>
        <p:spPr>
          <a:xfrm>
            <a:off x="619125" y="1819275"/>
            <a:ext cx="12172950" cy="3581102"/>
          </a:xfrm>
          <a:prstGeom prst="rect">
            <a:avLst/>
          </a:prstGeom>
          <a:noFill/>
        </p:spPr>
        <p:txBody>
          <a:bodyPr wrap="square" rtlCol="0">
            <a:normAutofit/>
          </a:bodyPr>
          <a:lstStyle/>
          <a:p>
            <a:pPr marL="0" marR="0" algn="l">
              <a:buNone/>
            </a:pPr>
            <a:r>
              <a:rPr sz="1800" b="0">
                <a:solidFill>
                  <a:srgbClr val="000000"/>
                </a:solidFill>
                <a:effectLst/>
                <a:latin typeface="Grandview Display" panose="020B0502040204020203" pitchFamily="34" charset="0"/>
              </a:rPr>
              <a:t>La evaluación de los modelos se realizó utilizando validación cruzada estratificada de 5 folds, una técnica que permite obtener estimaciones robustas del desempeño asegurando que cada partición mantenga la proporción original de clases. </a:t>
            </a:r>
            <a:endParaRPr>
              <a:effectLst/>
            </a:endParaRPr>
          </a:p>
          <a:p>
            <a:pPr marL="0" marR="0" algn="l">
              <a:spcBef>
                <a:spcPts val="1050"/>
              </a:spcBef>
              <a:buNone/>
            </a:pPr>
            <a:r>
              <a:rPr sz="1800" b="0">
                <a:solidFill>
                  <a:srgbClr val="000000"/>
                </a:solidFill>
                <a:effectLst/>
                <a:latin typeface="Grandview Display" panose="020B0502040204020203" pitchFamily="34" charset="0"/>
              </a:rPr>
              <a:t>La métrica principal utilizada fue el AUC ROC, que mide la capacidad del modelo para discriminar entre clases positivas y negativas a lo largo de todos los posibles umbrales de decisión. Esta métrica es especialmente adecuada en contextos de fuerte desbalanceo, ya que no se ve afectada por la proporción de clases como ocurre con el accuracy. </a:t>
            </a:r>
            <a:endParaRPr>
              <a:effectLst/>
            </a:endParaRPr>
          </a:p>
          <a:p>
            <a:pPr marL="0" marR="0" algn="l">
              <a:spcBef>
                <a:spcPts val="1050"/>
              </a:spcBef>
              <a:buNone/>
            </a:pPr>
            <a:r>
              <a:rPr sz="1800" b="0">
                <a:solidFill>
                  <a:srgbClr val="000000"/>
                </a:solidFill>
                <a:effectLst/>
                <a:latin typeface="Grandview Display" panose="020B0502040204020203" pitchFamily="34" charset="0"/>
              </a:rPr>
              <a:t>Además del AUC ROC, se midió el tiempo total de computación, incluyendo entrenamiento y predicción, con el fin de evaluar la viabilidad práctica de cada enfoque. En el caso de los modelos KDE, también se analizó el impacto del bandwidth como parámetro crítico, dado su efecto directo en el trade-off entre sesgo y varianza. Esta metodología integral permite comparar no solo la precisión, sino también la eficiencia y estabilidad de los distintos modelos. </a:t>
            </a:r>
            <a:endParaRPr lang="en-US"/>
          </a:p>
        </p:txBody>
      </p:sp>
    </p:spTree>
    <p:extLst>
      <p:ext uri="{BB962C8B-B14F-4D97-AF65-F5344CB8AC3E}">
        <p14:creationId xmlns:p14="http://schemas.microsoft.com/office/powerpoint/2010/main" val="1427065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42CA1C-C8DB-42EF-9197-70D53ECE5F2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C9BDD062-3E0D-4A6C-906E-967E45CAD3B6}"/>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429125"/>
            <a:ext cx="7810500" cy="685800"/>
          </a:xfrm>
          <a:prstGeom prst="rect">
            <a:avLst/>
          </a:prstGeom>
        </p:spPr>
      </p:pic>
      <p:sp>
        <p:nvSpPr>
          <p:cNvPr id="7" name="TextBox 6">
            <a:extLst>
              <a:ext uri="{FF2B5EF4-FFF2-40B4-BE49-F238E27FC236}">
                <a16:creationId xmlns:a16="http://schemas.microsoft.com/office/drawing/2014/main" id="{8D6C09DD-5505-409E-92A3-28B9B26DA6CC}"/>
              </a:ext>
            </a:extLst>
          </p:cNvPr>
          <p:cNvSpPr txBox="1"/>
          <p:nvPr/>
        </p:nvSpPr>
        <p:spPr>
          <a:xfrm>
            <a:off x="828675" y="4257675"/>
            <a:ext cx="10553700" cy="522386"/>
          </a:xfrm>
          <a:prstGeom prst="rect">
            <a:avLst/>
          </a:prstGeom>
          <a:noFill/>
        </p:spPr>
        <p:txBody>
          <a:bodyPr wrap="square" rtlCol="0">
            <a:normAutofit/>
          </a:bodyPr>
          <a:lstStyle/>
          <a:p>
            <a:pPr marL="0" marR="0" algn="l">
              <a:buNone/>
            </a:pPr>
            <a:r>
              <a:rPr b="1" cap="all">
                <a:solidFill>
                  <a:srgbClr val="FFFFFF"/>
                </a:solidFill>
                <a:effectLst/>
                <a:latin typeface="Grandview Display" panose="020B0502040204020203" pitchFamily="34" charset="0"/>
              </a:rPr>
              <a:t>PREPARACIÓN DE LOS DATOS</a:t>
            </a:r>
            <a:r>
              <a:rPr>
                <a:effectLst/>
              </a:rPr>
              <a:t> </a:t>
            </a:r>
            <a:endParaRPr lang="en-US"/>
          </a:p>
        </p:txBody>
      </p:sp>
      <p:sp>
        <p:nvSpPr>
          <p:cNvPr id="8" name="TextBox 7">
            <a:extLst>
              <a:ext uri="{FF2B5EF4-FFF2-40B4-BE49-F238E27FC236}">
                <a16:creationId xmlns:a16="http://schemas.microsoft.com/office/drawing/2014/main" id="{1F01E2BF-1171-4DEA-889B-46C1F0EF16D0}"/>
              </a:ext>
            </a:extLst>
          </p:cNvPr>
          <p:cNvSpPr txBox="1"/>
          <p:nvPr/>
        </p:nvSpPr>
        <p:spPr>
          <a:xfrm>
            <a:off x="828675" y="5610225"/>
            <a:ext cx="10553700" cy="349150"/>
          </a:xfrm>
          <a:prstGeom prst="rect">
            <a:avLst/>
          </a:prstGeom>
          <a:noFill/>
        </p:spPr>
        <p:txBody>
          <a:bodyPr wrap="square" rtlCol="0">
            <a:normAutofit/>
          </a:bodyPr>
          <a:lstStyle/>
          <a:p>
            <a:pPr marL="0" marR="0" algn="l">
              <a:buNone/>
            </a:pPr>
            <a:r>
              <a:rPr sz="2200" b="0">
                <a:solidFill>
                  <a:srgbClr val="FFFFFF"/>
                </a:solidFill>
                <a:effectLst/>
                <a:latin typeface="Grandview Display" panose="020B0502040204020203" pitchFamily="34" charset="0"/>
              </a:rPr>
              <a:t>Preprocesamiento y selección de variables</a:t>
            </a:r>
            <a:r>
              <a:rPr>
                <a:effectLst/>
              </a:rPr>
              <a:t> </a:t>
            </a:r>
            <a:endParaRPr lang="en-US"/>
          </a:p>
        </p:txBody>
      </p:sp>
    </p:spTree>
    <p:extLst>
      <p:ext uri="{BB962C8B-B14F-4D97-AF65-F5344CB8AC3E}">
        <p14:creationId xmlns:p14="http://schemas.microsoft.com/office/powerpoint/2010/main" val="733466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C5A761-249C-40B1-96B0-7CD81277542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450BE3E2-3E7E-4796-B16A-263897F7328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9125" y="676275"/>
            <a:ext cx="8763000" cy="609600"/>
          </a:xfrm>
          <a:prstGeom prst="rect">
            <a:avLst/>
          </a:prstGeom>
        </p:spPr>
      </p:pic>
      <p:sp>
        <p:nvSpPr>
          <p:cNvPr id="7" name="TextBox 6">
            <a:extLst>
              <a:ext uri="{FF2B5EF4-FFF2-40B4-BE49-F238E27FC236}">
                <a16:creationId xmlns:a16="http://schemas.microsoft.com/office/drawing/2014/main" id="{634EDECC-0973-4A98-A5A4-0E4D112F841B}"/>
              </a:ext>
            </a:extLst>
          </p:cNvPr>
          <p:cNvSpPr txBox="1"/>
          <p:nvPr/>
        </p:nvSpPr>
        <p:spPr>
          <a:xfrm>
            <a:off x="790575" y="542925"/>
            <a:ext cx="10553700" cy="894159"/>
          </a:xfrm>
          <a:prstGeom prst="rect">
            <a:avLst/>
          </a:prstGeom>
          <a:noFill/>
        </p:spPr>
        <p:txBody>
          <a:bodyPr wrap="square" rtlCol="0">
            <a:normAutofit/>
          </a:bodyPr>
          <a:lstStyle/>
          <a:p>
            <a:pPr marL="0" marR="0" algn="l">
              <a:buNone/>
            </a:pPr>
            <a:r>
              <a:rPr sz="3200" b="1" cap="all">
                <a:solidFill>
                  <a:srgbClr val="FFFFFF"/>
                </a:solidFill>
                <a:effectLst/>
                <a:latin typeface="Grandview Display" panose="020B0502040204020203" pitchFamily="34" charset="0"/>
              </a:rPr>
              <a:t>PREPROCESAMIENTO Y SELECCIÓN DE VARIABLES </a:t>
            </a:r>
            <a:endParaRPr lang="en-US"/>
          </a:p>
        </p:txBody>
      </p:sp>
      <p:sp>
        <p:nvSpPr>
          <p:cNvPr id="8" name="TextBox 7">
            <a:extLst>
              <a:ext uri="{FF2B5EF4-FFF2-40B4-BE49-F238E27FC236}">
                <a16:creationId xmlns:a16="http://schemas.microsoft.com/office/drawing/2014/main" id="{2D752E73-7A5C-4A18-A1C4-FFB0372AAD7B}"/>
              </a:ext>
            </a:extLst>
          </p:cNvPr>
          <p:cNvSpPr txBox="1"/>
          <p:nvPr/>
        </p:nvSpPr>
        <p:spPr>
          <a:xfrm>
            <a:off x="619125" y="1608534"/>
            <a:ext cx="10553700" cy="4159448"/>
          </a:xfrm>
          <a:prstGeom prst="rect">
            <a:avLst/>
          </a:prstGeom>
          <a:noFill/>
        </p:spPr>
        <p:txBody>
          <a:bodyPr wrap="square" rtlCol="0">
            <a:normAutofit/>
          </a:bodyPr>
          <a:lstStyle/>
          <a:p>
            <a:pPr marL="0" marR="0" algn="l">
              <a:buNone/>
            </a:pPr>
            <a:r>
              <a:rPr sz="1800" b="0">
                <a:solidFill>
                  <a:srgbClr val="000000"/>
                </a:solidFill>
                <a:effectLst/>
                <a:latin typeface="Grandview Display" panose="020B0502040204020203" pitchFamily="34" charset="0"/>
              </a:rPr>
              <a:t>El preprocesamiento del dataset incluyó la eliminación de columnas no informativas (p. ej., identificadores únicos) y variables categóricas sin valor predictivo directo. Además, se descartaron columnas que representaban fallas específicas distintas de la variable objetivo, para evitar fuga de información. </a:t>
            </a:r>
            <a:endParaRPr>
              <a:effectLst/>
            </a:endParaRPr>
          </a:p>
          <a:p>
            <a:pPr marL="0" marR="0" algn="l">
              <a:spcBef>
                <a:spcPts val="1200"/>
              </a:spcBef>
              <a:buNone/>
            </a:pPr>
            <a:r>
              <a:rPr sz="1800" b="0">
                <a:solidFill>
                  <a:srgbClr val="000000"/>
                </a:solidFill>
                <a:effectLst/>
                <a:latin typeface="Grandview Display" panose="020B0502040204020203" pitchFamily="34" charset="0"/>
              </a:rPr>
              <a:t>El conjunto final de características quedó compuesto por siete variables: temperaturas de aire y de proceso, velocidad rotacional, torque, desgaste de herramienta y tres variables dummy que representan el tipo de producto. </a:t>
            </a:r>
            <a:endParaRPr>
              <a:effectLst/>
            </a:endParaRPr>
          </a:p>
          <a:p>
            <a:pPr marL="0" marR="0" algn="l">
              <a:spcBef>
                <a:spcPts val="1200"/>
              </a:spcBef>
              <a:buNone/>
            </a:pPr>
            <a:r>
              <a:rPr sz="1800" b="0">
                <a:solidFill>
                  <a:srgbClr val="000000"/>
                </a:solidFill>
                <a:effectLst/>
                <a:latin typeface="Grandview Display" panose="020B0502040204020203" pitchFamily="34" charset="0"/>
              </a:rPr>
              <a:t>Metodológicamente, se decidió no aplicar normalización. Esta elección se justificó porque KDE puede manejar distintas escalas de forma natural y porque las variables tienen unidades físicas significativas que se prefirió preservar. </a:t>
            </a:r>
            <a:endParaRPr>
              <a:effectLst/>
            </a:endParaRPr>
          </a:p>
          <a:p>
            <a:pPr marL="0" marR="0" algn="l">
              <a:spcBef>
                <a:spcPts val="1200"/>
              </a:spcBef>
              <a:buNone/>
            </a:pPr>
            <a:r>
              <a:rPr sz="1800" b="0">
                <a:solidFill>
                  <a:srgbClr val="000000"/>
                </a:solidFill>
                <a:effectLst/>
                <a:latin typeface="Grandview Display" panose="020B0502040204020203" pitchFamily="34" charset="0"/>
              </a:rPr>
              <a:t>Este paso asegura que el modelo trabaje con información relevante y coherente con el contexto industrial del problema. </a:t>
            </a:r>
            <a:endParaRPr lang="en-US"/>
          </a:p>
        </p:txBody>
      </p:sp>
    </p:spTree>
    <p:extLst>
      <p:ext uri="{BB962C8B-B14F-4D97-AF65-F5344CB8AC3E}">
        <p14:creationId xmlns:p14="http://schemas.microsoft.com/office/powerpoint/2010/main" val="22035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BDB8CC-FBE3-423A-9254-423BA6B7BC4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5380F2FA-EA3D-4E9D-94BD-1550E5C47C87}"/>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862958"/>
            <a:ext cx="10534650" cy="1524000"/>
          </a:xfrm>
          <a:prstGeom prst="rect">
            <a:avLst/>
          </a:prstGeom>
        </p:spPr>
      </p:pic>
      <p:sp>
        <p:nvSpPr>
          <p:cNvPr id="7" name="TextBox 6">
            <a:extLst>
              <a:ext uri="{FF2B5EF4-FFF2-40B4-BE49-F238E27FC236}">
                <a16:creationId xmlns:a16="http://schemas.microsoft.com/office/drawing/2014/main" id="{6012D46B-AC3F-4DD8-BAE9-A9671FCB82AD}"/>
              </a:ext>
            </a:extLst>
          </p:cNvPr>
          <p:cNvSpPr txBox="1"/>
          <p:nvPr/>
        </p:nvSpPr>
        <p:spPr>
          <a:xfrm>
            <a:off x="828675" y="5091558"/>
            <a:ext cx="10534650" cy="937766"/>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MODELOS IMPLEMENTADOS</a:t>
            </a:r>
            <a:r>
              <a:rPr>
                <a:effectLst/>
              </a:rPr>
              <a:t> </a:t>
            </a:r>
          </a:p>
          <a:p>
            <a:pPr marL="0" marR="0" algn="l">
              <a:spcBef>
                <a:spcPts val="750"/>
              </a:spcBef>
              <a:buNone/>
            </a:pPr>
            <a:r>
              <a:rPr sz="2200" b="0">
                <a:solidFill>
                  <a:srgbClr val="FFFFFF"/>
                </a:solidFill>
                <a:effectLst/>
                <a:latin typeface="Grandview Display" panose="020B0502040204020203" pitchFamily="34" charset="0"/>
              </a:rPr>
              <a:t>Comparación de GaussianNB y variantes KDE</a:t>
            </a:r>
            <a:r>
              <a:rPr>
                <a:effectLst/>
              </a:rPr>
              <a:t> </a:t>
            </a:r>
            <a:endParaRPr lang="en-US"/>
          </a:p>
        </p:txBody>
      </p:sp>
    </p:spTree>
    <p:extLst>
      <p:ext uri="{BB962C8B-B14F-4D97-AF65-F5344CB8AC3E}">
        <p14:creationId xmlns:p14="http://schemas.microsoft.com/office/powerpoint/2010/main" val="1497773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DCF610-DA34-443D-A2BB-9DE2A07CE90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01EE0398-BCD7-44D8-90F0-99FD63E14A2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638175"/>
            <a:ext cx="9334500" cy="590550"/>
          </a:xfrm>
          <a:prstGeom prst="rect">
            <a:avLst/>
          </a:prstGeom>
        </p:spPr>
      </p:pic>
      <p:sp>
        <p:nvSpPr>
          <p:cNvPr id="7" name="TextBox 6">
            <a:extLst>
              <a:ext uri="{FF2B5EF4-FFF2-40B4-BE49-F238E27FC236}">
                <a16:creationId xmlns:a16="http://schemas.microsoft.com/office/drawing/2014/main" id="{1ACDC0AA-13A2-4974-8E1B-D3CB39AC0338}"/>
              </a:ext>
            </a:extLst>
          </p:cNvPr>
          <p:cNvSpPr txBox="1"/>
          <p:nvPr/>
        </p:nvSpPr>
        <p:spPr>
          <a:xfrm>
            <a:off x="828675" y="542925"/>
            <a:ext cx="10553700" cy="1141809"/>
          </a:xfrm>
          <a:prstGeom prst="rect">
            <a:avLst/>
          </a:prstGeom>
          <a:noFill/>
        </p:spPr>
        <p:txBody>
          <a:bodyPr wrap="square" rtlCol="0">
            <a:normAutofit/>
          </a:bodyPr>
          <a:lstStyle/>
          <a:p>
            <a:pPr marL="0" marR="0" algn="l">
              <a:buNone/>
            </a:pPr>
            <a:r>
              <a:rPr b="1" cap="all">
                <a:solidFill>
                  <a:srgbClr val="FFFFFF"/>
                </a:solidFill>
                <a:effectLst/>
                <a:latin typeface="Grandview Display" panose="020B0502040204020203" pitchFamily="34" charset="0"/>
              </a:rPr>
              <a:t>COMPARACIÓN DE GAUSSIANNB Y VARIANTES KDE </a:t>
            </a:r>
            <a:endParaRPr lang="en-US"/>
          </a:p>
        </p:txBody>
      </p:sp>
      <p:sp>
        <p:nvSpPr>
          <p:cNvPr id="8" name="TextBox 7">
            <a:extLst>
              <a:ext uri="{FF2B5EF4-FFF2-40B4-BE49-F238E27FC236}">
                <a16:creationId xmlns:a16="http://schemas.microsoft.com/office/drawing/2014/main" id="{4C0A2A2A-1E44-465C-851F-3DC5E1D54779}"/>
              </a:ext>
            </a:extLst>
          </p:cNvPr>
          <p:cNvSpPr txBox="1"/>
          <p:nvPr/>
        </p:nvSpPr>
        <p:spPr>
          <a:xfrm>
            <a:off x="828675" y="1895475"/>
            <a:ext cx="10553700" cy="3154412"/>
          </a:xfrm>
          <a:prstGeom prst="rect">
            <a:avLst/>
          </a:prstGeom>
          <a:noFill/>
        </p:spPr>
        <p:txBody>
          <a:bodyPr wrap="square" rtlCol="0">
            <a:normAutofit/>
          </a:bodyPr>
          <a:lstStyle/>
          <a:p>
            <a:pPr marL="0" marR="0" algn="l">
              <a:buNone/>
            </a:pPr>
            <a:r>
              <a:rPr sz="1800" b="0">
                <a:solidFill>
                  <a:srgbClr val="000000"/>
                </a:solidFill>
                <a:effectLst/>
                <a:latin typeface="Grandview Display" panose="020B0502040204020203" pitchFamily="34" charset="0"/>
              </a:rPr>
              <a:t>Se compararon cuatro modelos principales: Gaussian Naive Bayes como baseline y tres variantes de Naive Bayes con KDE. Estas incluyen un KDE gaussiano con bandwidth optimizado mediante validación cruzada, un KDE Parzen con kernel tophat y bandwidth fijo, y un KDE con regla de Silverman para selección automática del bandwidth. </a:t>
            </a:r>
            <a:endParaRPr>
              <a:effectLst/>
            </a:endParaRPr>
          </a:p>
          <a:p>
            <a:pPr marL="0" marR="0" algn="l">
              <a:spcBef>
                <a:spcPts val="1350"/>
              </a:spcBef>
              <a:buNone/>
            </a:pPr>
            <a:r>
              <a:rPr sz="1800" b="0">
                <a:solidFill>
                  <a:srgbClr val="000000"/>
                </a:solidFill>
                <a:effectLst/>
                <a:latin typeface="Grandview Display" panose="020B0502040204020203" pitchFamily="34" charset="0"/>
              </a:rPr>
              <a:t>Los modelos KDE fueron implementados desde cero mediante una clase personalizada NaiveBayesKDE, incorporando técnicas de estabilidad numérica como el uso de log-probabilidades y clipping para evitar underflow. Esta implementación permitió un control detallado del proceso de estimación de densidades y facilitó el análisis comparativo entre enfoques paramétricos y no paramétricos. </a:t>
            </a:r>
            <a:endParaRPr lang="en-US"/>
          </a:p>
        </p:txBody>
      </p:sp>
    </p:spTree>
    <p:extLst>
      <p:ext uri="{BB962C8B-B14F-4D97-AF65-F5344CB8AC3E}">
        <p14:creationId xmlns:p14="http://schemas.microsoft.com/office/powerpoint/2010/main" val="3311016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37397E-50D4-4151-AE06-2FD0C6AFD7D2}"/>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9525" y="0"/>
            <a:ext cx="12192000" cy="6858000"/>
          </a:xfrm>
          <a:prstGeom prst="rect">
            <a:avLst/>
          </a:prstGeom>
        </p:spPr>
      </p:pic>
      <p:pic>
        <p:nvPicPr>
          <p:cNvPr id="6" name="Content Placeholder 5">
            <a:extLst>
              <a:ext uri="{FF2B5EF4-FFF2-40B4-BE49-F238E27FC236}">
                <a16:creationId xmlns:a16="http://schemas.microsoft.com/office/drawing/2014/main" id="{52773F5A-9A76-4546-92B6-B82B7920124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410075"/>
            <a:ext cx="10553700" cy="1619250"/>
          </a:xfrm>
          <a:prstGeom prst="rect">
            <a:avLst/>
          </a:prstGeom>
        </p:spPr>
      </p:pic>
      <p:sp>
        <p:nvSpPr>
          <p:cNvPr id="7" name="TextBox 6">
            <a:extLst>
              <a:ext uri="{FF2B5EF4-FFF2-40B4-BE49-F238E27FC236}">
                <a16:creationId xmlns:a16="http://schemas.microsoft.com/office/drawing/2014/main" id="{F1AFB1A7-C945-4978-963E-F8CC1EEA509E}"/>
              </a:ext>
            </a:extLst>
          </p:cNvPr>
          <p:cNvSpPr txBox="1"/>
          <p:nvPr/>
        </p:nvSpPr>
        <p:spPr>
          <a:xfrm>
            <a:off x="505385" y="5745990"/>
            <a:ext cx="10553700" cy="1252537"/>
          </a:xfrm>
          <a:prstGeom prst="rect">
            <a:avLst/>
          </a:prstGeom>
          <a:noFill/>
        </p:spPr>
        <p:txBody>
          <a:bodyPr wrap="square" rtlCol="0">
            <a:normAutofit/>
          </a:bodyPr>
          <a:lstStyle/>
          <a:p>
            <a:pPr marL="0" marR="0" algn="l">
              <a:buNone/>
            </a:pPr>
            <a:r>
              <a:rPr b="1" cap="all" dirty="0">
                <a:solidFill>
                  <a:srgbClr val="FFFFFF"/>
                </a:solidFill>
                <a:effectLst/>
                <a:latin typeface="Grandview Display" panose="020B0502040204020203" pitchFamily="34" charset="0"/>
              </a:rPr>
              <a:t>RESULTADOS OBTENIDOS</a:t>
            </a:r>
            <a:r>
              <a:rPr dirty="0">
                <a:effectLst/>
              </a:rPr>
              <a:t> </a:t>
            </a:r>
          </a:p>
          <a:p>
            <a:pPr marL="0" marR="0" algn="l">
              <a:spcBef>
                <a:spcPts val="1050"/>
              </a:spcBef>
              <a:buNone/>
            </a:pPr>
            <a:r>
              <a:rPr sz="2200" dirty="0" err="1">
                <a:solidFill>
                  <a:srgbClr val="FFFFFF"/>
                </a:solidFill>
                <a:effectLst/>
                <a:latin typeface="Grandview Display" panose="020B0502040204020203" pitchFamily="34" charset="0"/>
              </a:rPr>
              <a:t>Resultados</a:t>
            </a:r>
            <a:r>
              <a:rPr sz="2200" dirty="0">
                <a:solidFill>
                  <a:srgbClr val="FFFFFF"/>
                </a:solidFill>
                <a:effectLst/>
                <a:latin typeface="Grandview Display" panose="020B0502040204020203" pitchFamily="34" charset="0"/>
              </a:rPr>
              <a:t> </a:t>
            </a:r>
            <a:r>
              <a:rPr sz="2200" dirty="0" err="1">
                <a:solidFill>
                  <a:srgbClr val="FFFFFF"/>
                </a:solidFill>
                <a:effectLst/>
                <a:latin typeface="Grandview Display" panose="020B0502040204020203" pitchFamily="34" charset="0"/>
              </a:rPr>
              <a:t>comparativos</a:t>
            </a:r>
            <a:r>
              <a:rPr sz="2200" dirty="0">
                <a:solidFill>
                  <a:srgbClr val="FFFFFF"/>
                </a:solidFill>
                <a:effectLst/>
                <a:latin typeface="Grandview Display" panose="020B0502040204020203" pitchFamily="34" charset="0"/>
              </a:rPr>
              <a:t> y </a:t>
            </a:r>
            <a:r>
              <a:rPr sz="2200" dirty="0" err="1">
                <a:solidFill>
                  <a:srgbClr val="FFFFFF"/>
                </a:solidFill>
                <a:effectLst/>
                <a:latin typeface="Grandview Display" panose="020B0502040204020203" pitchFamily="34" charset="0"/>
              </a:rPr>
              <a:t>análisis</a:t>
            </a:r>
            <a:r>
              <a:rPr sz="2200" dirty="0">
                <a:solidFill>
                  <a:srgbClr val="FFFFFF"/>
                </a:solidFill>
                <a:effectLst/>
                <a:latin typeface="Grandview Display" panose="020B0502040204020203" pitchFamily="34" charset="0"/>
              </a:rPr>
              <a:t> de </a:t>
            </a:r>
            <a:r>
              <a:rPr sz="2200" dirty="0" err="1">
                <a:solidFill>
                  <a:srgbClr val="FFFFFF"/>
                </a:solidFill>
                <a:effectLst/>
                <a:latin typeface="Grandview Display" panose="020B0502040204020203" pitchFamily="34" charset="0"/>
              </a:rPr>
              <a:t>desempeño</a:t>
            </a:r>
            <a:r>
              <a:rPr sz="2200" dirty="0">
                <a:solidFill>
                  <a:srgbClr val="FFFFFF"/>
                </a:solidFill>
                <a:effectLst/>
                <a:latin typeface="Grandview Display" panose="020B0502040204020203" pitchFamily="34" charset="0"/>
              </a:rPr>
              <a:t> </a:t>
            </a:r>
            <a:endParaRPr lang="en-US" dirty="0"/>
          </a:p>
        </p:txBody>
      </p:sp>
      <p:pic>
        <p:nvPicPr>
          <p:cNvPr id="3" name="Imagen 2">
            <a:extLst>
              <a:ext uri="{FF2B5EF4-FFF2-40B4-BE49-F238E27FC236}">
                <a16:creationId xmlns:a16="http://schemas.microsoft.com/office/drawing/2014/main" id="{261C6935-D677-3C8E-C3B9-6A5516A25FF1}"/>
              </a:ext>
            </a:extLst>
          </p:cNvPr>
          <p:cNvPicPr>
            <a:picLocks noChangeAspect="1"/>
          </p:cNvPicPr>
          <p:nvPr/>
        </p:nvPicPr>
        <p:blipFill>
          <a:blip r:embed="rId7"/>
          <a:stretch>
            <a:fillRect/>
          </a:stretch>
        </p:blipFill>
        <p:spPr>
          <a:xfrm>
            <a:off x="254934" y="449133"/>
            <a:ext cx="5527301" cy="2139319"/>
          </a:xfrm>
          <a:prstGeom prst="rect">
            <a:avLst/>
          </a:prstGeom>
        </p:spPr>
      </p:pic>
      <p:pic>
        <p:nvPicPr>
          <p:cNvPr id="8" name="Imagen 7">
            <a:extLst>
              <a:ext uri="{FF2B5EF4-FFF2-40B4-BE49-F238E27FC236}">
                <a16:creationId xmlns:a16="http://schemas.microsoft.com/office/drawing/2014/main" id="{91AA297E-2733-5C07-B81E-53562E2A31C3}"/>
              </a:ext>
            </a:extLst>
          </p:cNvPr>
          <p:cNvPicPr>
            <a:picLocks noChangeAspect="1"/>
          </p:cNvPicPr>
          <p:nvPr/>
        </p:nvPicPr>
        <p:blipFill>
          <a:blip r:embed="rId8"/>
          <a:stretch>
            <a:fillRect/>
          </a:stretch>
        </p:blipFill>
        <p:spPr>
          <a:xfrm>
            <a:off x="5930713" y="432407"/>
            <a:ext cx="6006353" cy="3323806"/>
          </a:xfrm>
          <a:prstGeom prst="rect">
            <a:avLst/>
          </a:prstGeom>
        </p:spPr>
      </p:pic>
      <p:pic>
        <p:nvPicPr>
          <p:cNvPr id="10" name="Imagen 9">
            <a:extLst>
              <a:ext uri="{FF2B5EF4-FFF2-40B4-BE49-F238E27FC236}">
                <a16:creationId xmlns:a16="http://schemas.microsoft.com/office/drawing/2014/main" id="{01E84472-F88A-C60C-09A6-5ED6F71935E0}"/>
              </a:ext>
            </a:extLst>
          </p:cNvPr>
          <p:cNvPicPr>
            <a:picLocks noChangeAspect="1"/>
          </p:cNvPicPr>
          <p:nvPr/>
        </p:nvPicPr>
        <p:blipFill>
          <a:blip r:embed="rId9"/>
          <a:stretch>
            <a:fillRect/>
          </a:stretch>
        </p:blipFill>
        <p:spPr>
          <a:xfrm>
            <a:off x="254934" y="2841813"/>
            <a:ext cx="4161615" cy="2482662"/>
          </a:xfrm>
          <a:prstGeom prst="rect">
            <a:avLst/>
          </a:prstGeom>
        </p:spPr>
      </p:pic>
      <p:pic>
        <p:nvPicPr>
          <p:cNvPr id="12" name="Imagen 11">
            <a:extLst>
              <a:ext uri="{FF2B5EF4-FFF2-40B4-BE49-F238E27FC236}">
                <a16:creationId xmlns:a16="http://schemas.microsoft.com/office/drawing/2014/main" id="{C91B0180-0F20-6E06-9CA6-9F2718DED177}"/>
              </a:ext>
            </a:extLst>
          </p:cNvPr>
          <p:cNvPicPr>
            <a:picLocks noChangeAspect="1"/>
          </p:cNvPicPr>
          <p:nvPr/>
        </p:nvPicPr>
        <p:blipFill>
          <a:blip r:embed="rId10"/>
          <a:stretch>
            <a:fillRect/>
          </a:stretch>
        </p:blipFill>
        <p:spPr>
          <a:xfrm>
            <a:off x="5930713" y="3915983"/>
            <a:ext cx="4363742" cy="1619250"/>
          </a:xfrm>
          <a:prstGeom prst="rect">
            <a:avLst/>
          </a:prstGeom>
        </p:spPr>
      </p:pic>
    </p:spTree>
    <p:extLst>
      <p:ext uri="{BB962C8B-B14F-4D97-AF65-F5344CB8AC3E}">
        <p14:creationId xmlns:p14="http://schemas.microsoft.com/office/powerpoint/2010/main" val="675149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08773D-AEEF-4201-9400-243C952723F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75009728-A35A-45E5-9D39-E1A35580A23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9525" y="9525"/>
            <a:ext cx="4869060" cy="6858000"/>
          </a:xfrm>
          <a:prstGeom prst="rect">
            <a:avLst/>
          </a:prstGeom>
        </p:spPr>
      </p:pic>
      <p:pic>
        <p:nvPicPr>
          <p:cNvPr id="7" name="Picture 6" descr="Cropped shot of a young computer programmer looking through data">
            <a:extLst>
              <a:ext uri="{FF2B5EF4-FFF2-40B4-BE49-F238E27FC236}">
                <a16:creationId xmlns:a16="http://schemas.microsoft.com/office/drawing/2014/main" id="{8D01008D-5B18-4EC2-9DF5-3460B6E043B4}"/>
              </a:ext>
            </a:extLst>
          </p:cNvPr>
          <p:cNvPicPr>
            <a:picLocks noChangeAspect="1"/>
          </p:cNvPicPr>
          <p:nvPr/>
        </p:nvPicPr>
        <p:blipFill>
          <a:blip r:embed="rId7"/>
          <a:stretch>
            <a:fillRect/>
          </a:stretch>
        </p:blipFill>
        <p:spPr>
          <a:xfrm>
            <a:off x="4878585" y="9525"/>
            <a:ext cx="7303740" cy="6858000"/>
          </a:xfrm>
          <a:prstGeom prst="rect">
            <a:avLst/>
          </a:prstGeom>
        </p:spPr>
      </p:pic>
      <p:sp>
        <p:nvSpPr>
          <p:cNvPr id="8" name="TextBox 7">
            <a:extLst>
              <a:ext uri="{FF2B5EF4-FFF2-40B4-BE49-F238E27FC236}">
                <a16:creationId xmlns:a16="http://schemas.microsoft.com/office/drawing/2014/main" id="{0C5CAFFE-6056-44E3-935C-CCF3654C4C62}"/>
              </a:ext>
            </a:extLst>
          </p:cNvPr>
          <p:cNvSpPr txBox="1"/>
          <p:nvPr/>
        </p:nvSpPr>
        <p:spPr>
          <a:xfrm>
            <a:off x="619125" y="809625"/>
            <a:ext cx="3726060" cy="1978818"/>
          </a:xfrm>
          <a:prstGeom prst="rect">
            <a:avLst/>
          </a:prstGeom>
          <a:noFill/>
        </p:spPr>
        <p:txBody>
          <a:bodyPr wrap="square" rtlCol="0">
            <a:normAutofit/>
          </a:bodyPr>
          <a:lstStyle/>
          <a:p>
            <a:pPr marL="0" marR="0" algn="l">
              <a:buNone/>
            </a:pPr>
            <a:r>
              <a:rPr sz="3200" b="1" cap="all">
                <a:solidFill>
                  <a:srgbClr val="FFFFFF"/>
                </a:solidFill>
                <a:effectLst/>
                <a:latin typeface="Grandview Display" panose="020B0502040204020203" pitchFamily="34" charset="0"/>
              </a:rPr>
              <a:t>Resultados comparativos</a:t>
            </a:r>
            <a:br>
              <a:rPr sz="3200" b="1" cap="all">
                <a:solidFill>
                  <a:srgbClr val="FFFFFF"/>
                </a:solidFill>
                <a:effectLst/>
                <a:latin typeface="Grandview Display" panose="020B0502040204020203" pitchFamily="34" charset="0"/>
              </a:rPr>
            </a:br>
            <a:r>
              <a:rPr sz="3200" b="1" cap="all">
                <a:solidFill>
                  <a:srgbClr val="FFFFFF"/>
                </a:solidFill>
                <a:effectLst/>
                <a:latin typeface="Grandview Display" panose="020B0502040204020203" pitchFamily="34" charset="0"/>
              </a:rPr>
              <a:t>y análisis de desempeño </a:t>
            </a:r>
            <a:endParaRPr lang="en-US"/>
          </a:p>
        </p:txBody>
      </p:sp>
      <p:sp>
        <p:nvSpPr>
          <p:cNvPr id="9" name="TextBox 8">
            <a:extLst>
              <a:ext uri="{FF2B5EF4-FFF2-40B4-BE49-F238E27FC236}">
                <a16:creationId xmlns:a16="http://schemas.microsoft.com/office/drawing/2014/main" id="{FA5C8B27-D6D5-4BC3-8F62-F602BB69BE1A}"/>
              </a:ext>
            </a:extLst>
          </p:cNvPr>
          <p:cNvSpPr txBox="1"/>
          <p:nvPr/>
        </p:nvSpPr>
        <p:spPr>
          <a:xfrm>
            <a:off x="619125" y="2219325"/>
            <a:ext cx="3726060" cy="5781972"/>
          </a:xfrm>
          <a:prstGeom prst="rect">
            <a:avLst/>
          </a:prstGeom>
          <a:noFill/>
        </p:spPr>
        <p:txBody>
          <a:bodyPr wrap="square" rtlCol="0">
            <a:normAutofit/>
          </a:bodyPr>
          <a:lstStyle/>
          <a:p>
            <a:pPr marL="0" marR="0" algn="l">
              <a:buNone/>
            </a:pPr>
            <a:r>
              <a:rPr sz="1800" b="0">
                <a:solidFill>
                  <a:srgbClr val="FFFFFF"/>
                </a:solidFill>
                <a:effectLst/>
                <a:latin typeface="Grandview Display" panose="020B0502040204020203" pitchFamily="34" charset="0"/>
              </a:rPr>
              <a:t>Los modelos alcanzan AUC ROC ≈ 0.89, con diferencias &lt; 1%. Gaussian Naive Bayes rinde prácticamente igual que las variantes KDE, pero con una ventaja sustancial en tiempo: ~70× más rápido. </a:t>
            </a:r>
            <a:endParaRPr>
              <a:effectLst/>
            </a:endParaRPr>
          </a:p>
          <a:p>
            <a:pPr marL="0" marR="0" algn="l">
              <a:spcBef>
                <a:spcPts val="900"/>
              </a:spcBef>
              <a:buNone/>
            </a:pPr>
            <a:r>
              <a:rPr sz="1800" b="0">
                <a:solidFill>
                  <a:srgbClr val="FFFFFF"/>
                </a:solidFill>
                <a:effectLst/>
                <a:latin typeface="Grandview Display" panose="020B0502040204020203" pitchFamily="34" charset="0"/>
              </a:rPr>
              <a:t>La validación cruzada arroja desviaciones estándar que sugieren que las diferencias no son estadísticamente significativas. Para este dataset, la suposición de normalidad captura adecuadamente la estructura. </a:t>
            </a:r>
            <a:endParaRPr>
              <a:effectLst/>
            </a:endParaRPr>
          </a:p>
          <a:p>
            <a:pPr marL="0" marR="0" algn="l">
              <a:spcBef>
                <a:spcPts val="900"/>
              </a:spcBef>
              <a:buNone/>
            </a:pPr>
            <a:r>
              <a:rPr sz="1800" b="0">
                <a:solidFill>
                  <a:srgbClr val="FFFFFF"/>
                </a:solidFill>
                <a:effectLst/>
                <a:latin typeface="Grandview Display" panose="020B0502040204020203" pitchFamily="34" charset="0"/>
              </a:rPr>
              <a:t>Las curvas ROC superpuestas refuerzan la conclusión: comportamientos casi idénticos entre modelos. </a:t>
            </a:r>
            <a:endParaRPr lang="en-US"/>
          </a:p>
        </p:txBody>
      </p:sp>
      <p:sp>
        <p:nvSpPr>
          <p:cNvPr id="10" name="TextBox 9">
            <a:extLst>
              <a:ext uri="{FF2B5EF4-FFF2-40B4-BE49-F238E27FC236}">
                <a16:creationId xmlns:a16="http://schemas.microsoft.com/office/drawing/2014/main" id="{387B415A-DC12-499B-8208-0933FA37D61A}"/>
              </a:ext>
            </a:extLst>
          </p:cNvPr>
          <p:cNvSpPr txBox="1"/>
          <p:nvPr/>
        </p:nvSpPr>
        <p:spPr>
          <a:xfrm>
            <a:off x="619125" y="5857875"/>
            <a:ext cx="3726060" cy="1384250"/>
          </a:xfrm>
          <a:prstGeom prst="rect">
            <a:avLst/>
          </a:prstGeom>
          <a:noFill/>
        </p:spPr>
        <p:txBody>
          <a:bodyPr wrap="square" rtlCol="0">
            <a:normAutofit/>
          </a:bodyPr>
          <a:lstStyle/>
          <a:p>
            <a:pPr marL="0" marR="0" algn="l">
              <a:buNone/>
            </a:pPr>
            <a:r>
              <a:rPr sz="2000" b="1" cap="all">
                <a:solidFill>
                  <a:srgbClr val="FFFFFF"/>
                </a:solidFill>
                <a:effectLst/>
                <a:latin typeface="Grandview Display" panose="020B0502040204020203" pitchFamily="34" charset="0"/>
              </a:rPr>
              <a:t>Key statistic </a:t>
            </a:r>
            <a:endParaRPr>
              <a:effectLst/>
            </a:endParaRPr>
          </a:p>
          <a:p>
            <a:pPr marL="0" marR="0" algn="l">
              <a:spcBef>
                <a:spcPts val="750"/>
              </a:spcBef>
              <a:buNone/>
            </a:pPr>
            <a:r>
              <a:rPr sz="1800" b="1">
                <a:solidFill>
                  <a:srgbClr val="52A1CE"/>
                </a:solidFill>
                <a:effectLst/>
                <a:latin typeface="Grandview Display" panose="020B0502040204020203" pitchFamily="34" charset="0"/>
              </a:rPr>
              <a:t>70× </a:t>
            </a:r>
            <a:r>
              <a:rPr sz="1800" b="0">
                <a:solidFill>
                  <a:srgbClr val="FFFFFF"/>
                </a:solidFill>
                <a:effectLst/>
                <a:latin typeface="Grandview Display" panose="020B0502040204020203" pitchFamily="34" charset="0"/>
              </a:rPr>
              <a:t> Gaussian Naive Bayes es ~70 veces más rápido que las variantes KDE. </a:t>
            </a:r>
            <a:endParaRPr lang="en-US"/>
          </a:p>
        </p:txBody>
      </p:sp>
    </p:spTree>
    <p:extLst>
      <p:ext uri="{BB962C8B-B14F-4D97-AF65-F5344CB8AC3E}">
        <p14:creationId xmlns:p14="http://schemas.microsoft.com/office/powerpoint/2010/main" val="2006848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01B17E-EB9E-4B22-95A0-75C8BDECA41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BE5B0BB7-D3B8-4D6D-A61B-2E24269BE396}"/>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4886325"/>
            <a:ext cx="9334500" cy="1143000"/>
          </a:xfrm>
          <a:prstGeom prst="rect">
            <a:avLst/>
          </a:prstGeom>
        </p:spPr>
      </p:pic>
      <p:sp>
        <p:nvSpPr>
          <p:cNvPr id="7" name="TextBox 6">
            <a:extLst>
              <a:ext uri="{FF2B5EF4-FFF2-40B4-BE49-F238E27FC236}">
                <a16:creationId xmlns:a16="http://schemas.microsoft.com/office/drawing/2014/main" id="{D111058A-F0B2-4D3B-A78D-732D19858172}"/>
              </a:ext>
            </a:extLst>
          </p:cNvPr>
          <p:cNvSpPr txBox="1"/>
          <p:nvPr/>
        </p:nvSpPr>
        <p:spPr>
          <a:xfrm>
            <a:off x="828675" y="4886325"/>
            <a:ext cx="9334500" cy="461962"/>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INTERPRETACIÓN VISUAL</a:t>
            </a:r>
            <a:r>
              <a:rPr>
                <a:effectLst/>
              </a:rPr>
              <a:t> </a:t>
            </a:r>
            <a:endParaRPr lang="en-US"/>
          </a:p>
        </p:txBody>
      </p:sp>
      <p:pic>
        <p:nvPicPr>
          <p:cNvPr id="3" name="Imagen 2">
            <a:extLst>
              <a:ext uri="{FF2B5EF4-FFF2-40B4-BE49-F238E27FC236}">
                <a16:creationId xmlns:a16="http://schemas.microsoft.com/office/drawing/2014/main" id="{02F2F864-D040-86EC-D4F3-D4C854AB8A5E}"/>
              </a:ext>
            </a:extLst>
          </p:cNvPr>
          <p:cNvPicPr>
            <a:picLocks noChangeAspect="1"/>
          </p:cNvPicPr>
          <p:nvPr/>
        </p:nvPicPr>
        <p:blipFill>
          <a:blip r:embed="rId7"/>
          <a:stretch>
            <a:fillRect/>
          </a:stretch>
        </p:blipFill>
        <p:spPr>
          <a:xfrm>
            <a:off x="828675" y="286870"/>
            <a:ext cx="4075765" cy="3491836"/>
          </a:xfrm>
          <a:prstGeom prst="rect">
            <a:avLst/>
          </a:prstGeom>
        </p:spPr>
      </p:pic>
      <p:pic>
        <p:nvPicPr>
          <p:cNvPr id="8" name="Imagen 7">
            <a:extLst>
              <a:ext uri="{FF2B5EF4-FFF2-40B4-BE49-F238E27FC236}">
                <a16:creationId xmlns:a16="http://schemas.microsoft.com/office/drawing/2014/main" id="{BDBC8C97-69A6-126E-9156-C1FB58DAF7A4}"/>
              </a:ext>
            </a:extLst>
          </p:cNvPr>
          <p:cNvPicPr>
            <a:picLocks noChangeAspect="1"/>
          </p:cNvPicPr>
          <p:nvPr/>
        </p:nvPicPr>
        <p:blipFill>
          <a:blip r:embed="rId8"/>
          <a:stretch>
            <a:fillRect/>
          </a:stretch>
        </p:blipFill>
        <p:spPr>
          <a:xfrm>
            <a:off x="5038164" y="1716428"/>
            <a:ext cx="6687671" cy="2062278"/>
          </a:xfrm>
          <a:prstGeom prst="rect">
            <a:avLst/>
          </a:prstGeom>
        </p:spPr>
      </p:pic>
    </p:spTree>
    <p:extLst>
      <p:ext uri="{BB962C8B-B14F-4D97-AF65-F5344CB8AC3E}">
        <p14:creationId xmlns:p14="http://schemas.microsoft.com/office/powerpoint/2010/main" val="1414771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291DC9-A931-4528-947D-67415885D43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Daphne Odora Tree.">
            <a:extLst>
              <a:ext uri="{FF2B5EF4-FFF2-40B4-BE49-F238E27FC236}">
                <a16:creationId xmlns:a16="http://schemas.microsoft.com/office/drawing/2014/main" id="{5C02A8A8-629D-4785-9908-469E08E26F75}"/>
              </a:ext>
            </a:extLst>
          </p:cNvPr>
          <p:cNvPicPr>
            <a:picLocks noGrp="1" noChangeAspect="1"/>
          </p:cNvPicPr>
          <p:nvPr>
            <p:ph sz="quarter" idx="16"/>
          </p:nvPr>
        </p:nvPicPr>
        <p:blipFill>
          <a:blip r:embed="rId5"/>
          <a:stretch>
            <a:fillRect/>
          </a:stretch>
        </p:blipFill>
        <p:spPr>
          <a:xfrm>
            <a:off x="5334000" y="0"/>
            <a:ext cx="6858000" cy="6858000"/>
          </a:xfrm>
          <a:prstGeom prst="rect">
            <a:avLst/>
          </a:prstGeom>
        </p:spPr>
      </p:pic>
      <p:pic>
        <p:nvPicPr>
          <p:cNvPr id="7" name="Graphic 6">
            <a:extLst>
              <a:ext uri="{FF2B5EF4-FFF2-40B4-BE49-F238E27FC236}">
                <a16:creationId xmlns:a16="http://schemas.microsoft.com/office/drawing/2014/main" id="{9E27B0C0-96D6-41E1-AFC0-231E752ED7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125" y="523875"/>
            <a:ext cx="4391025" cy="1333500"/>
          </a:xfrm>
          <a:prstGeom prst="rect">
            <a:avLst/>
          </a:prstGeom>
        </p:spPr>
      </p:pic>
      <p:pic>
        <p:nvPicPr>
          <p:cNvPr id="8" name="Graphic 7">
            <a:extLst>
              <a:ext uri="{FF2B5EF4-FFF2-40B4-BE49-F238E27FC236}">
                <a16:creationId xmlns:a16="http://schemas.microsoft.com/office/drawing/2014/main" id="{133868F2-E111-4546-969A-476BF9DDC19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9125" y="2028825"/>
            <a:ext cx="4391025" cy="4819650"/>
          </a:xfrm>
          <a:prstGeom prst="rect">
            <a:avLst/>
          </a:prstGeom>
        </p:spPr>
      </p:pic>
      <p:sp>
        <p:nvSpPr>
          <p:cNvPr id="9" name="TextBox 8">
            <a:extLst>
              <a:ext uri="{FF2B5EF4-FFF2-40B4-BE49-F238E27FC236}">
                <a16:creationId xmlns:a16="http://schemas.microsoft.com/office/drawing/2014/main" id="{B5BCCF82-D588-4372-874B-EC20CA068C29}"/>
              </a:ext>
            </a:extLst>
          </p:cNvPr>
          <p:cNvSpPr txBox="1"/>
          <p:nvPr/>
        </p:nvSpPr>
        <p:spPr>
          <a:xfrm>
            <a:off x="790575" y="771525"/>
            <a:ext cx="4391025" cy="1005482"/>
          </a:xfrm>
          <a:prstGeom prst="rect">
            <a:avLst/>
          </a:prstGeom>
          <a:noFill/>
        </p:spPr>
        <p:txBody>
          <a:bodyPr wrap="square" rtlCol="0">
            <a:normAutofit/>
          </a:bodyPr>
          <a:lstStyle/>
          <a:p>
            <a:pPr marL="0" algn="l">
              <a:spcBef>
                <a:spcPts val="1950"/>
              </a:spcBef>
              <a:buNone/>
            </a:pPr>
            <a:r>
              <a:rPr b="1" cap="all">
                <a:solidFill>
                  <a:srgbClr val="FFFFFF"/>
                </a:solidFill>
                <a:effectLst/>
                <a:latin typeface="Grandview Display" panose="020B0502040204020203" pitchFamily="34" charset="0"/>
              </a:rPr>
              <a:t>VISUALIZACIÓN DE DENSIDADES</a:t>
            </a:r>
            <a:br>
              <a:rPr b="1" cap="all">
                <a:solidFill>
                  <a:srgbClr val="FFFFFF"/>
                </a:solidFill>
                <a:effectLst/>
                <a:latin typeface="Grandview Display" panose="020B0502040204020203" pitchFamily="34" charset="0"/>
              </a:rPr>
            </a:br>
            <a:r>
              <a:rPr b="1" cap="all">
                <a:solidFill>
                  <a:srgbClr val="FFFFFF"/>
                </a:solidFill>
                <a:effectLst/>
                <a:latin typeface="Grandview Display" panose="020B0502040204020203" pitchFamily="34" charset="0"/>
              </a:rPr>
              <a:t>Y BANDWIDTH </a:t>
            </a:r>
            <a:endParaRPr lang="en-US"/>
          </a:p>
        </p:txBody>
      </p:sp>
      <p:sp>
        <p:nvSpPr>
          <p:cNvPr id="10" name="TextBox 9">
            <a:extLst>
              <a:ext uri="{FF2B5EF4-FFF2-40B4-BE49-F238E27FC236}">
                <a16:creationId xmlns:a16="http://schemas.microsoft.com/office/drawing/2014/main" id="{BC9CD3C0-7A90-48E1-9B2E-503905D759E1}"/>
              </a:ext>
            </a:extLst>
          </p:cNvPr>
          <p:cNvSpPr txBox="1"/>
          <p:nvPr/>
        </p:nvSpPr>
        <p:spPr>
          <a:xfrm>
            <a:off x="828675" y="2276475"/>
            <a:ext cx="4391025" cy="4709070"/>
          </a:xfrm>
          <a:prstGeom prst="rect">
            <a:avLst/>
          </a:prstGeom>
          <a:noFill/>
        </p:spPr>
        <p:txBody>
          <a:bodyPr wrap="square" rtlCol="0">
            <a:normAutofit/>
          </a:bodyPr>
          <a:lstStyle/>
          <a:p>
            <a:pPr marL="0" algn="l">
              <a:spcBef>
                <a:spcPts val="1950"/>
              </a:spcBef>
              <a:buNone/>
            </a:pPr>
            <a:r>
              <a:rPr sz="1425" b="1">
                <a:solidFill>
                  <a:srgbClr val="FFFFFF"/>
                </a:solidFill>
                <a:effectLst/>
                <a:latin typeface="Grandview Display" panose="020B0502040204020203" pitchFamily="34" charset="0"/>
              </a:rPr>
              <a:t>Lectura de las densidades </a:t>
            </a:r>
            <a:endParaRPr>
              <a:effectLst/>
            </a:endParaRPr>
          </a:p>
          <a:p>
            <a:pPr marL="0" algn="l">
              <a:spcBef>
                <a:spcPts val="750"/>
              </a:spcBef>
              <a:buNone/>
            </a:pPr>
            <a:r>
              <a:rPr sz="1800" b="0">
                <a:solidFill>
                  <a:srgbClr val="FFFFFF"/>
                </a:solidFill>
                <a:effectLst/>
                <a:latin typeface="Grandview Display" panose="020B0502040204020203" pitchFamily="34" charset="0"/>
              </a:rPr>
              <a:t>Air temperature y Process temperature se aproximan a una gaussiana, por lo que el baseline funciona bien. Torque puede mostrar asimetrías, donde KDE aporta flexibilidad. </a:t>
            </a:r>
            <a:endParaRPr>
              <a:effectLst/>
            </a:endParaRPr>
          </a:p>
          <a:p>
            <a:pPr marL="0" algn="l">
              <a:spcBef>
                <a:spcPts val="1350"/>
              </a:spcBef>
              <a:buNone/>
            </a:pPr>
            <a:r>
              <a:rPr sz="1425" b="1">
                <a:solidFill>
                  <a:srgbClr val="FFFFFF"/>
                </a:solidFill>
                <a:effectLst/>
                <a:latin typeface="Grandview Display" panose="020B0502040204020203" pitchFamily="34" charset="0"/>
              </a:rPr>
              <a:t>Efecto del bandwidth </a:t>
            </a:r>
            <a:endParaRPr>
              <a:effectLst/>
            </a:endParaRPr>
          </a:p>
          <a:p>
            <a:pPr marL="0" algn="l">
              <a:spcBef>
                <a:spcPts val="750"/>
              </a:spcBef>
              <a:buNone/>
            </a:pPr>
            <a:r>
              <a:rPr sz="1800" b="0">
                <a:solidFill>
                  <a:srgbClr val="FFFFFF"/>
                </a:solidFill>
                <a:effectLst/>
                <a:latin typeface="Grandview Display" panose="020B0502040204020203" pitchFamily="34" charset="0"/>
              </a:rPr>
              <a:t>Pequeño: curvas ruidosas y riesgo de overfitting. Grande: suavizado excesivo y pérdida de estructura. </a:t>
            </a:r>
            <a:endParaRPr>
              <a:effectLst/>
            </a:endParaRPr>
          </a:p>
          <a:p>
            <a:pPr marL="0" algn="l">
              <a:spcBef>
                <a:spcPts val="1350"/>
              </a:spcBef>
              <a:buNone/>
            </a:pPr>
            <a:r>
              <a:rPr sz="1425" b="1">
                <a:solidFill>
                  <a:srgbClr val="FFFFFF"/>
                </a:solidFill>
                <a:effectLst/>
                <a:latin typeface="Grandview Display" panose="020B0502040204020203" pitchFamily="34" charset="0"/>
              </a:rPr>
              <a:t>Objetivo de la optimización </a:t>
            </a:r>
            <a:endParaRPr>
              <a:effectLst/>
            </a:endParaRPr>
          </a:p>
          <a:p>
            <a:pPr marL="0" algn="l">
              <a:spcBef>
                <a:spcPts val="750"/>
              </a:spcBef>
              <a:buNone/>
            </a:pPr>
            <a:r>
              <a:rPr sz="1800" b="0">
                <a:solidFill>
                  <a:srgbClr val="FFFFFF"/>
                </a:solidFill>
                <a:effectLst/>
                <a:latin typeface="Grandview Display" panose="020B0502040204020203" pitchFamily="34" charset="0"/>
              </a:rPr>
              <a:t>Encontrar el equilibrio sesgo–varianza para capturar patrones reales sin amplificar el ruido; concepto central del aprendizaje estadístico. </a:t>
            </a:r>
            <a:endParaRPr lang="en-US"/>
          </a:p>
        </p:txBody>
      </p:sp>
    </p:spTree>
    <p:extLst>
      <p:ext uri="{BB962C8B-B14F-4D97-AF65-F5344CB8AC3E}">
        <p14:creationId xmlns:p14="http://schemas.microsoft.com/office/powerpoint/2010/main" val="1912506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BAB08D-2891-4637-8D2C-78BA09818E7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92E4BE33-A971-484C-8DB2-1EDC15340E4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828675" y="5425975"/>
            <a:ext cx="8572500" cy="1047750"/>
          </a:xfrm>
          <a:prstGeom prst="rect">
            <a:avLst/>
          </a:prstGeom>
        </p:spPr>
      </p:pic>
      <p:sp>
        <p:nvSpPr>
          <p:cNvPr id="7" name="TextBox 6">
            <a:extLst>
              <a:ext uri="{FF2B5EF4-FFF2-40B4-BE49-F238E27FC236}">
                <a16:creationId xmlns:a16="http://schemas.microsoft.com/office/drawing/2014/main" id="{963B9A0B-4778-48A6-82DE-91CBCD0937EA}"/>
              </a:ext>
            </a:extLst>
          </p:cNvPr>
          <p:cNvSpPr txBox="1"/>
          <p:nvPr/>
        </p:nvSpPr>
        <p:spPr>
          <a:xfrm>
            <a:off x="828675" y="5425975"/>
            <a:ext cx="10534650" cy="603349"/>
          </a:xfrm>
          <a:prstGeom prst="rect">
            <a:avLst/>
          </a:prstGeom>
          <a:noFill/>
        </p:spPr>
        <p:txBody>
          <a:bodyPr wrap="square" rtlCol="0">
            <a:normAutofit/>
          </a:bodyPr>
          <a:lstStyle/>
          <a:p>
            <a:pPr marL="0" marR="0" algn="l" fontAlgn="b">
              <a:buNone/>
            </a:pPr>
            <a:r>
              <a:rPr b="1" cap="all">
                <a:solidFill>
                  <a:srgbClr val="FFFFFF"/>
                </a:solidFill>
                <a:effectLst/>
                <a:latin typeface="Grandview Display" panose="020B0502040204020203" pitchFamily="34" charset="0"/>
              </a:rPr>
              <a:t>CIERRE Y CONCLUSIONES</a:t>
            </a:r>
            <a:r>
              <a:rPr>
                <a:effectLst/>
              </a:rPr>
              <a:t> </a:t>
            </a:r>
            <a:endParaRPr lang="en-US"/>
          </a:p>
        </p:txBody>
      </p:sp>
    </p:spTree>
    <p:extLst>
      <p:ext uri="{BB962C8B-B14F-4D97-AF65-F5344CB8AC3E}">
        <p14:creationId xmlns:p14="http://schemas.microsoft.com/office/powerpoint/2010/main" val="2817254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DCB5FC-492C-4007-95A9-C3879C1BDB9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D13C4C0C-5C00-407B-A540-0A415354972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38175" y="2193875"/>
            <a:ext cx="857250" cy="857250"/>
          </a:xfrm>
          <a:prstGeom prst="rect">
            <a:avLst/>
          </a:prstGeom>
        </p:spPr>
      </p:pic>
      <p:pic>
        <p:nvPicPr>
          <p:cNvPr id="7" name="Graphic 6">
            <a:extLst>
              <a:ext uri="{FF2B5EF4-FFF2-40B4-BE49-F238E27FC236}">
                <a16:creationId xmlns:a16="http://schemas.microsoft.com/office/drawing/2014/main" id="{9143F560-29C4-4FE4-9537-E23FE1D46C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48050" y="2193875"/>
            <a:ext cx="857250" cy="857250"/>
          </a:xfrm>
          <a:prstGeom prst="rect">
            <a:avLst/>
          </a:prstGeom>
        </p:spPr>
      </p:pic>
      <p:pic>
        <p:nvPicPr>
          <p:cNvPr id="8" name="Graphic 7">
            <a:extLst>
              <a:ext uri="{FF2B5EF4-FFF2-40B4-BE49-F238E27FC236}">
                <a16:creationId xmlns:a16="http://schemas.microsoft.com/office/drawing/2014/main" id="{D54DE9C5-D5B7-4A1A-8C85-582F548849C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57925" y="2193875"/>
            <a:ext cx="857250" cy="857250"/>
          </a:xfrm>
          <a:prstGeom prst="rect">
            <a:avLst/>
          </a:prstGeom>
        </p:spPr>
      </p:pic>
      <p:pic>
        <p:nvPicPr>
          <p:cNvPr id="9" name="Graphic 8">
            <a:extLst>
              <a:ext uri="{FF2B5EF4-FFF2-40B4-BE49-F238E27FC236}">
                <a16:creationId xmlns:a16="http://schemas.microsoft.com/office/drawing/2014/main" id="{460EF9C3-5CD7-449E-82B0-FCD8BA3F3E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067800" y="2193875"/>
            <a:ext cx="857250" cy="857250"/>
          </a:xfrm>
          <a:prstGeom prst="rect">
            <a:avLst/>
          </a:prstGeom>
        </p:spPr>
      </p:pic>
      <p:sp>
        <p:nvSpPr>
          <p:cNvPr id="10" name="TextBox 9">
            <a:extLst>
              <a:ext uri="{FF2B5EF4-FFF2-40B4-BE49-F238E27FC236}">
                <a16:creationId xmlns:a16="http://schemas.microsoft.com/office/drawing/2014/main" id="{4169E030-9F46-4D10-80C6-C76914E4248C}"/>
              </a:ext>
            </a:extLst>
          </p:cNvPr>
          <p:cNvSpPr txBox="1"/>
          <p:nvPr/>
        </p:nvSpPr>
        <p:spPr>
          <a:xfrm>
            <a:off x="733425" y="1019175"/>
            <a:ext cx="10953750" cy="561379"/>
          </a:xfrm>
          <a:prstGeom prst="rect">
            <a:avLst/>
          </a:prstGeom>
          <a:noFill/>
        </p:spPr>
        <p:txBody>
          <a:bodyPr wrap="square" rtlCol="0">
            <a:normAutofit lnSpcReduction="10000"/>
          </a:bodyPr>
          <a:lstStyle/>
          <a:p>
            <a:pPr marL="0" algn="l">
              <a:spcBef>
                <a:spcPts val="450"/>
              </a:spcBef>
              <a:buNone/>
            </a:pPr>
            <a:r>
              <a:rPr sz="3200" b="1" cap="all" dirty="0" err="1">
                <a:effectLst/>
                <a:latin typeface="Grandview Display" panose="020B0502040204020203" pitchFamily="34" charset="0"/>
              </a:rPr>
              <a:t>Conclusiones</a:t>
            </a:r>
            <a:r>
              <a:rPr sz="3200" b="1" cap="all" dirty="0">
                <a:effectLst/>
                <a:latin typeface="Grandview Display" panose="020B0502040204020203" pitchFamily="34" charset="0"/>
              </a:rPr>
              <a:t> y </a:t>
            </a:r>
            <a:r>
              <a:rPr sz="3200" b="1" cap="all" dirty="0" err="1">
                <a:effectLst/>
                <a:latin typeface="Grandview Display" panose="020B0502040204020203" pitchFamily="34" charset="0"/>
              </a:rPr>
              <a:t>recomendaciones</a:t>
            </a:r>
            <a:r>
              <a:rPr sz="3200" b="1" cap="all" dirty="0">
                <a:effectLst/>
                <a:latin typeface="Grandview Display" panose="020B0502040204020203" pitchFamily="34" charset="0"/>
              </a:rPr>
              <a:t> </a:t>
            </a:r>
            <a:endParaRPr lang="en-US" dirty="0"/>
          </a:p>
        </p:txBody>
      </p:sp>
      <p:sp>
        <p:nvSpPr>
          <p:cNvPr id="11" name="TextBox 10">
            <a:extLst>
              <a:ext uri="{FF2B5EF4-FFF2-40B4-BE49-F238E27FC236}">
                <a16:creationId xmlns:a16="http://schemas.microsoft.com/office/drawing/2014/main" id="{C73A290E-2F05-4510-984A-0AEABCE9259E}"/>
              </a:ext>
            </a:extLst>
          </p:cNvPr>
          <p:cNvSpPr txBox="1"/>
          <p:nvPr/>
        </p:nvSpPr>
        <p:spPr>
          <a:xfrm>
            <a:off x="733425" y="3222575"/>
            <a:ext cx="2524125" cy="3458765"/>
          </a:xfrm>
          <a:prstGeom prst="rect">
            <a:avLst/>
          </a:prstGeom>
          <a:noFill/>
        </p:spPr>
        <p:txBody>
          <a:bodyPr wrap="square" rtlCol="0">
            <a:normAutofit/>
          </a:bodyPr>
          <a:lstStyle/>
          <a:p>
            <a:pPr marL="0" algn="l">
              <a:spcBef>
                <a:spcPts val="1350"/>
              </a:spcBef>
              <a:buNone/>
            </a:pPr>
            <a:r>
              <a:rPr sz="2200" b="1" cap="all" dirty="0" err="1">
                <a:effectLst/>
                <a:latin typeface="Grandview Display" panose="020B0502040204020203" pitchFamily="34" charset="0"/>
              </a:rPr>
              <a:t>Hallazgo</a:t>
            </a:r>
            <a:r>
              <a:rPr sz="2200" b="1" cap="all" dirty="0">
                <a:effectLst/>
                <a:latin typeface="Grandview Display" panose="020B0502040204020203" pitchFamily="34" charset="0"/>
              </a:rPr>
              <a:t> clave </a:t>
            </a:r>
            <a:endParaRPr dirty="0">
              <a:effectLst/>
            </a:endParaRPr>
          </a:p>
          <a:p>
            <a:pPr marL="0" algn="l">
              <a:spcBef>
                <a:spcPts val="1200"/>
              </a:spcBef>
              <a:buNone/>
            </a:pPr>
            <a:r>
              <a:rPr sz="1800" b="0" dirty="0">
                <a:solidFill>
                  <a:srgbClr val="000000"/>
                </a:solidFill>
                <a:effectLst/>
                <a:latin typeface="Grandview Display" panose="020B0502040204020203" pitchFamily="34" charset="0"/>
              </a:rPr>
              <a:t>KDE </a:t>
            </a:r>
            <a:r>
              <a:rPr sz="1800" b="0" dirty="0" err="1">
                <a:solidFill>
                  <a:srgbClr val="000000"/>
                </a:solidFill>
                <a:effectLst/>
                <a:latin typeface="Grandview Display" panose="020B0502040204020203" pitchFamily="34" charset="0"/>
              </a:rPr>
              <a:t>puede</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implementarse</a:t>
            </a:r>
            <a:r>
              <a:rPr sz="1800" b="0" dirty="0">
                <a:solidFill>
                  <a:srgbClr val="000000"/>
                </a:solidFill>
                <a:effectLst/>
                <a:latin typeface="Grandview Display" panose="020B0502040204020203" pitchFamily="34" charset="0"/>
              </a:rPr>
              <a:t> con rigor, </a:t>
            </a:r>
            <a:r>
              <a:rPr sz="1800" b="0" dirty="0" err="1">
                <a:solidFill>
                  <a:srgbClr val="000000"/>
                </a:solidFill>
                <a:effectLst/>
                <a:latin typeface="Grandview Display" panose="020B0502040204020203" pitchFamily="34" charset="0"/>
              </a:rPr>
              <a:t>pero</a:t>
            </a:r>
            <a:r>
              <a:rPr sz="1800" b="0" dirty="0">
                <a:solidFill>
                  <a:srgbClr val="000000"/>
                </a:solidFill>
                <a:effectLst/>
                <a:latin typeface="Grandview Display" panose="020B0502040204020203" pitchFamily="34" charset="0"/>
              </a:rPr>
              <a:t> no </a:t>
            </a:r>
            <a:r>
              <a:rPr sz="1800" b="0" dirty="0" err="1">
                <a:solidFill>
                  <a:srgbClr val="000000"/>
                </a:solidFill>
                <a:effectLst/>
                <a:latin typeface="Grandview Display" panose="020B0502040204020203" pitchFamily="34" charset="0"/>
              </a:rPr>
              <a:t>garantiza</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mejoras</a:t>
            </a:r>
            <a:r>
              <a:rPr sz="1800" b="0" dirty="0">
                <a:solidFill>
                  <a:srgbClr val="000000"/>
                </a:solidFill>
                <a:effectLst/>
                <a:latin typeface="Grandview Display" panose="020B0502040204020203" pitchFamily="34" charset="0"/>
              </a:rPr>
              <a:t>. En </a:t>
            </a:r>
            <a:r>
              <a:rPr sz="1800" b="0" dirty="0" err="1">
                <a:solidFill>
                  <a:srgbClr val="000000"/>
                </a:solidFill>
                <a:effectLst/>
                <a:latin typeface="Grandview Display" panose="020B0502040204020203" pitchFamily="34" charset="0"/>
              </a:rPr>
              <a:t>este</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caso</a:t>
            </a:r>
            <a:r>
              <a:rPr sz="1800" b="0" dirty="0">
                <a:solidFill>
                  <a:srgbClr val="000000"/>
                </a:solidFill>
                <a:effectLst/>
                <a:latin typeface="Grandview Display" panose="020B0502040204020203" pitchFamily="34" charset="0"/>
              </a:rPr>
              <a:t>, Gaussian Naive Bayes </a:t>
            </a:r>
            <a:r>
              <a:rPr sz="1800" b="0" dirty="0" err="1">
                <a:solidFill>
                  <a:srgbClr val="000000"/>
                </a:solidFill>
                <a:effectLst/>
                <a:latin typeface="Grandview Display" panose="020B0502040204020203" pitchFamily="34" charset="0"/>
              </a:rPr>
              <a:t>ofrece</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el</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mejor</a:t>
            </a:r>
            <a:r>
              <a:rPr sz="1800" b="0" dirty="0">
                <a:solidFill>
                  <a:srgbClr val="000000"/>
                </a:solidFill>
                <a:effectLst/>
                <a:latin typeface="Grandview Display" panose="020B0502040204020203" pitchFamily="34" charset="0"/>
              </a:rPr>
              <a:t> balance entre </a:t>
            </a:r>
            <a:r>
              <a:rPr sz="1800" b="0" dirty="0" err="1">
                <a:solidFill>
                  <a:srgbClr val="000000"/>
                </a:solidFill>
                <a:effectLst/>
                <a:latin typeface="Grandview Display" panose="020B0502040204020203" pitchFamily="34" charset="0"/>
              </a:rPr>
              <a:t>precisión</a:t>
            </a:r>
            <a:r>
              <a:rPr sz="1800" b="0" dirty="0">
                <a:solidFill>
                  <a:srgbClr val="000000"/>
                </a:solidFill>
                <a:effectLst/>
                <a:latin typeface="Grandview Display" panose="020B0502040204020203" pitchFamily="34" charset="0"/>
              </a:rPr>
              <a:t> y </a:t>
            </a:r>
            <a:r>
              <a:rPr sz="1800" b="0" dirty="0" err="1">
                <a:solidFill>
                  <a:srgbClr val="000000"/>
                </a:solidFill>
                <a:effectLst/>
                <a:latin typeface="Grandview Display" panose="020B0502040204020203" pitchFamily="34" charset="0"/>
              </a:rPr>
              <a:t>costo</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computacional</a:t>
            </a:r>
            <a:r>
              <a:rPr sz="1800" b="0" dirty="0">
                <a:solidFill>
                  <a:srgbClr val="000000"/>
                </a:solidFill>
                <a:effectLst/>
                <a:latin typeface="Grandview Display" panose="020B0502040204020203" pitchFamily="34" charset="0"/>
              </a:rPr>
              <a:t>. </a:t>
            </a:r>
            <a:endParaRPr lang="en-US" dirty="0"/>
          </a:p>
        </p:txBody>
      </p:sp>
      <p:sp>
        <p:nvSpPr>
          <p:cNvPr id="12" name="TextBox 11">
            <a:extLst>
              <a:ext uri="{FF2B5EF4-FFF2-40B4-BE49-F238E27FC236}">
                <a16:creationId xmlns:a16="http://schemas.microsoft.com/office/drawing/2014/main" id="{3EA50965-B204-4524-B20D-6EA7CA49861C}"/>
              </a:ext>
            </a:extLst>
          </p:cNvPr>
          <p:cNvSpPr txBox="1"/>
          <p:nvPr/>
        </p:nvSpPr>
        <p:spPr>
          <a:xfrm>
            <a:off x="3543300" y="3222575"/>
            <a:ext cx="2524125" cy="2818804"/>
          </a:xfrm>
          <a:prstGeom prst="rect">
            <a:avLst/>
          </a:prstGeom>
          <a:noFill/>
        </p:spPr>
        <p:txBody>
          <a:bodyPr wrap="square" rtlCol="0">
            <a:normAutofit/>
          </a:bodyPr>
          <a:lstStyle/>
          <a:p>
            <a:pPr marL="0" algn="l">
              <a:spcBef>
                <a:spcPts val="1350"/>
              </a:spcBef>
              <a:buNone/>
            </a:pPr>
            <a:r>
              <a:rPr sz="2200" b="1" cap="all" dirty="0" err="1">
                <a:effectLst/>
                <a:latin typeface="Grandview Display" panose="020B0502040204020203" pitchFamily="34" charset="0"/>
              </a:rPr>
              <a:t>Cuándo</a:t>
            </a:r>
            <a:r>
              <a:rPr sz="2200" b="1" cap="all" dirty="0">
                <a:effectLst/>
                <a:latin typeface="Grandview Display" panose="020B0502040204020203" pitchFamily="34" charset="0"/>
              </a:rPr>
              <a:t> usar KDE </a:t>
            </a:r>
            <a:endParaRPr dirty="0">
              <a:effectLst/>
            </a:endParaRPr>
          </a:p>
          <a:p>
            <a:pPr marL="0" algn="l">
              <a:spcBef>
                <a:spcPts val="1200"/>
              </a:spcBef>
              <a:buNone/>
            </a:pPr>
            <a:r>
              <a:rPr sz="1800" b="0" dirty="0">
                <a:solidFill>
                  <a:srgbClr val="000000"/>
                </a:solidFill>
                <a:effectLst/>
                <a:latin typeface="Grandview Display" panose="020B0502040204020203" pitchFamily="34" charset="0"/>
              </a:rPr>
              <a:t>Es </a:t>
            </a:r>
            <a:r>
              <a:rPr sz="1800" b="0" dirty="0" err="1">
                <a:solidFill>
                  <a:srgbClr val="000000"/>
                </a:solidFill>
                <a:effectLst/>
                <a:latin typeface="Grandview Display" panose="020B0502040204020203" pitchFamily="34" charset="0"/>
              </a:rPr>
              <a:t>más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adecuado</a:t>
            </a:r>
            <a:r>
              <a:rPr sz="1800" b="0" dirty="0">
                <a:solidFill>
                  <a:srgbClr val="000000"/>
                </a:solidFill>
                <a:effectLst/>
                <a:latin typeface="Grandview Display" panose="020B0502040204020203" pitchFamily="34" charset="0"/>
              </a:rPr>
              <a:t> con </a:t>
            </a:r>
            <a:r>
              <a:rPr sz="1800" b="0" dirty="0" err="1">
                <a:solidFill>
                  <a:srgbClr val="000000"/>
                </a:solidFill>
                <a:effectLst/>
                <a:latin typeface="Grandview Display" panose="020B0502040204020203" pitchFamily="34" charset="0"/>
              </a:rPr>
              <a:t>distribuciones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altamente</a:t>
            </a:r>
            <a:r>
              <a:rPr sz="1800" b="0" dirty="0">
                <a:solidFill>
                  <a:srgbClr val="000000"/>
                </a:solidFill>
                <a:effectLst/>
                <a:latin typeface="Grandview Display" panose="020B0502040204020203" pitchFamily="34" charset="0"/>
              </a:rPr>
              <a:t> no </a:t>
            </a:r>
            <a:r>
              <a:rPr sz="1800" b="0" dirty="0" err="1">
                <a:solidFill>
                  <a:srgbClr val="000000"/>
                </a:solidFill>
                <a:effectLst/>
                <a:latin typeface="Grandview Display" panose="020B0502040204020203" pitchFamily="34" charset="0"/>
              </a:rPr>
              <a:t>gaussianas</a:t>
            </a:r>
            <a:r>
              <a:rPr sz="1800" b="0" dirty="0">
                <a:solidFill>
                  <a:srgbClr val="000000"/>
                </a:solidFill>
                <a:effectLst/>
                <a:latin typeface="Grandview Display" panose="020B0502040204020203" pitchFamily="34" charset="0"/>
              </a:rPr>
              <a:t> o </a:t>
            </a:r>
            <a:r>
              <a:rPr sz="1800" b="0" dirty="0" err="1">
                <a:solidFill>
                  <a:srgbClr val="000000"/>
                </a:solidFill>
                <a:effectLst/>
                <a:latin typeface="Grandview Display" panose="020B0502040204020203" pitchFamily="34" charset="0"/>
              </a:rPr>
              <a:t>cuando</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el</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costo</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computacional</a:t>
            </a:r>
            <a:r>
              <a:rPr sz="1800" b="0" dirty="0">
                <a:solidFill>
                  <a:srgbClr val="000000"/>
                </a:solidFill>
                <a:effectLst/>
                <a:latin typeface="Grandview Display" panose="020B0502040204020203" pitchFamily="34" charset="0"/>
              </a:rPr>
              <a:t> no es </a:t>
            </a:r>
            <a:r>
              <a:rPr sz="1800" b="0" dirty="0" err="1">
                <a:solidFill>
                  <a:srgbClr val="000000"/>
                </a:solidFill>
                <a:effectLst/>
                <a:latin typeface="Grandview Display" panose="020B0502040204020203" pitchFamily="34" charset="0"/>
              </a:rPr>
              <a:t>una</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restricción</a:t>
            </a:r>
            <a:r>
              <a:rPr sz="1800" b="0" dirty="0">
                <a:solidFill>
                  <a:srgbClr val="000000"/>
                </a:solidFill>
                <a:effectLst/>
                <a:latin typeface="Grandview Display" panose="020B0502040204020203" pitchFamily="34" charset="0"/>
              </a:rPr>
              <a:t>. </a:t>
            </a:r>
            <a:endParaRPr lang="en-US" dirty="0"/>
          </a:p>
        </p:txBody>
      </p:sp>
      <p:sp>
        <p:nvSpPr>
          <p:cNvPr id="13" name="TextBox 12">
            <a:extLst>
              <a:ext uri="{FF2B5EF4-FFF2-40B4-BE49-F238E27FC236}">
                <a16:creationId xmlns:a16="http://schemas.microsoft.com/office/drawing/2014/main" id="{A207E42C-81D1-4031-BE3B-12B06B8C0ECA}"/>
              </a:ext>
            </a:extLst>
          </p:cNvPr>
          <p:cNvSpPr txBox="1"/>
          <p:nvPr/>
        </p:nvSpPr>
        <p:spPr>
          <a:xfrm>
            <a:off x="6353175" y="3222575"/>
            <a:ext cx="2524125" cy="2483643"/>
          </a:xfrm>
          <a:prstGeom prst="rect">
            <a:avLst/>
          </a:prstGeom>
          <a:noFill/>
        </p:spPr>
        <p:txBody>
          <a:bodyPr wrap="square" rtlCol="0">
            <a:normAutofit/>
          </a:bodyPr>
          <a:lstStyle/>
          <a:p>
            <a:pPr marL="0" algn="l">
              <a:spcBef>
                <a:spcPts val="1350"/>
              </a:spcBef>
              <a:buNone/>
            </a:pPr>
            <a:r>
              <a:rPr sz="2200" b="1" cap="all" dirty="0" err="1">
                <a:effectLst/>
                <a:latin typeface="Grandview Display" panose="020B0502040204020203" pitchFamily="34" charset="0"/>
              </a:rPr>
              <a:t>Aprendizajes</a:t>
            </a:r>
            <a:r>
              <a:rPr sz="2200" b="1" cap="all" dirty="0">
                <a:effectLst/>
                <a:latin typeface="Grandview Display" panose="020B0502040204020203" pitchFamily="34" charset="0"/>
              </a:rPr>
              <a:t> </a:t>
            </a:r>
            <a:endParaRPr dirty="0">
              <a:effectLst/>
            </a:endParaRPr>
          </a:p>
          <a:p>
            <a:pPr marL="0" algn="l">
              <a:spcBef>
                <a:spcPts val="1200"/>
              </a:spcBef>
              <a:buNone/>
            </a:pPr>
            <a:r>
              <a:rPr sz="1800" b="0" dirty="0">
                <a:solidFill>
                  <a:srgbClr val="000000"/>
                </a:solidFill>
                <a:effectLst/>
                <a:latin typeface="Grandview Display" panose="020B0502040204020203" pitchFamily="34" charset="0"/>
              </a:rPr>
              <a:t>Se </a:t>
            </a:r>
            <a:r>
              <a:rPr sz="1800" b="0" dirty="0" err="1">
                <a:solidFill>
                  <a:srgbClr val="000000"/>
                </a:solidFill>
                <a:effectLst/>
                <a:latin typeface="Grandview Display" panose="020B0502040204020203" pitchFamily="34" charset="0"/>
              </a:rPr>
              <a:t>profundizó</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en</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estimación</a:t>
            </a:r>
            <a:r>
              <a:rPr sz="1800" b="0" dirty="0">
                <a:solidFill>
                  <a:srgbClr val="000000"/>
                </a:solidFill>
                <a:effectLst/>
                <a:latin typeface="Grandview Display" panose="020B0502040204020203" pitchFamily="34" charset="0"/>
              </a:rPr>
              <a:t> de </a:t>
            </a:r>
            <a:r>
              <a:rPr sz="1800" b="0" dirty="0" err="1">
                <a:solidFill>
                  <a:srgbClr val="000000"/>
                </a:solidFill>
                <a:effectLst/>
                <a:latin typeface="Grandview Display" panose="020B0502040204020203" pitchFamily="34" charset="0"/>
              </a:rPr>
              <a:t>densidades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validación</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cruzada</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estabilidad</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numérica</a:t>
            </a:r>
            <a:r>
              <a:rPr sz="1800" b="0" dirty="0">
                <a:solidFill>
                  <a:srgbClr val="000000"/>
                </a:solidFill>
                <a:effectLst/>
                <a:latin typeface="Grandview Display" panose="020B0502040204020203" pitchFamily="34" charset="0"/>
              </a:rPr>
              <a:t> y </a:t>
            </a:r>
            <a:r>
              <a:rPr sz="1800" b="0" dirty="0" err="1">
                <a:solidFill>
                  <a:srgbClr val="000000"/>
                </a:solidFill>
                <a:effectLst/>
                <a:latin typeface="Grandview Display" panose="020B0502040204020203" pitchFamily="34" charset="0"/>
              </a:rPr>
              <a:t>análisis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crítico</a:t>
            </a:r>
            <a:r>
              <a:rPr sz="1800" b="0" dirty="0">
                <a:solidFill>
                  <a:srgbClr val="000000"/>
                </a:solidFill>
                <a:effectLst/>
                <a:latin typeface="Grandview Display" panose="020B0502040204020203" pitchFamily="34" charset="0"/>
              </a:rPr>
              <a:t> de </a:t>
            </a:r>
            <a:r>
              <a:rPr sz="1800" b="0" dirty="0" err="1">
                <a:solidFill>
                  <a:srgbClr val="000000"/>
                </a:solidFill>
                <a:effectLst/>
                <a:latin typeface="Grandview Display" panose="020B0502040204020203" pitchFamily="34" charset="0"/>
              </a:rPr>
              <a:t>resultados</a:t>
            </a:r>
            <a:r>
              <a:rPr sz="1800" b="0" dirty="0">
                <a:solidFill>
                  <a:srgbClr val="000000"/>
                </a:solidFill>
                <a:effectLst/>
                <a:latin typeface="Grandview Display" panose="020B0502040204020203" pitchFamily="34" charset="0"/>
              </a:rPr>
              <a:t>. </a:t>
            </a:r>
            <a:endParaRPr lang="en-US" dirty="0"/>
          </a:p>
        </p:txBody>
      </p:sp>
      <p:sp>
        <p:nvSpPr>
          <p:cNvPr id="14" name="TextBox 13">
            <a:extLst>
              <a:ext uri="{FF2B5EF4-FFF2-40B4-BE49-F238E27FC236}">
                <a16:creationId xmlns:a16="http://schemas.microsoft.com/office/drawing/2014/main" id="{98111B00-BEF6-44E3-8DD4-C4757C8D1E1F}"/>
              </a:ext>
            </a:extLst>
          </p:cNvPr>
          <p:cNvSpPr txBox="1"/>
          <p:nvPr/>
        </p:nvSpPr>
        <p:spPr>
          <a:xfrm>
            <a:off x="9163050" y="3222575"/>
            <a:ext cx="2524125" cy="3138785"/>
          </a:xfrm>
          <a:prstGeom prst="rect">
            <a:avLst/>
          </a:prstGeom>
          <a:noFill/>
        </p:spPr>
        <p:txBody>
          <a:bodyPr wrap="square" rtlCol="0">
            <a:normAutofit/>
          </a:bodyPr>
          <a:lstStyle/>
          <a:p>
            <a:pPr marL="0" algn="l">
              <a:spcBef>
                <a:spcPts val="1350"/>
              </a:spcBef>
              <a:buNone/>
            </a:pPr>
            <a:r>
              <a:rPr sz="2200" b="1" cap="all" dirty="0" err="1">
                <a:effectLst/>
                <a:latin typeface="Grandview Display" panose="020B0502040204020203" pitchFamily="34" charset="0"/>
              </a:rPr>
              <a:t>Recomendación</a:t>
            </a:r>
            <a:r>
              <a:rPr sz="2200" b="1" cap="all" dirty="0">
                <a:effectLst/>
                <a:latin typeface="Grandview Display" panose="020B0502040204020203" pitchFamily="34" charset="0"/>
              </a:rPr>
              <a:t> final </a:t>
            </a:r>
            <a:endParaRPr dirty="0">
              <a:effectLst/>
            </a:endParaRPr>
          </a:p>
          <a:p>
            <a:pPr marL="0" algn="l">
              <a:spcBef>
                <a:spcPts val="1200"/>
              </a:spcBef>
              <a:buNone/>
            </a:pPr>
            <a:r>
              <a:rPr sz="1800" b="0" dirty="0" err="1">
                <a:solidFill>
                  <a:srgbClr val="000000"/>
                </a:solidFill>
                <a:effectLst/>
                <a:latin typeface="Grandview Display" panose="020B0502040204020203" pitchFamily="34" charset="0"/>
              </a:rPr>
              <a:t>Evaluar</a:t>
            </a:r>
            <a:r>
              <a:rPr sz="1800" b="0" dirty="0">
                <a:solidFill>
                  <a:srgbClr val="000000"/>
                </a:solidFill>
                <a:effectLst/>
                <a:latin typeface="Grandview Display" panose="020B0502040204020203" pitchFamily="34" charset="0"/>
              </a:rPr>
              <a:t> la </a:t>
            </a:r>
            <a:r>
              <a:rPr sz="1800" b="0" dirty="0" err="1">
                <a:solidFill>
                  <a:srgbClr val="000000"/>
                </a:solidFill>
                <a:effectLst/>
                <a:latin typeface="Grandview Display" panose="020B0502040204020203" pitchFamily="34" charset="0"/>
              </a:rPr>
              <a:t>complejidad</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según</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el</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problema</a:t>
            </a:r>
            <a:r>
              <a:rPr sz="1800" b="0" dirty="0">
                <a:solidFill>
                  <a:srgbClr val="000000"/>
                </a:solidFill>
                <a:effectLst/>
                <a:latin typeface="Grandview Display" panose="020B0502040204020203" pitchFamily="34" charset="0"/>
              </a:rPr>
              <a:t>. No </a:t>
            </a:r>
            <a:r>
              <a:rPr sz="1800" b="0" dirty="0" err="1">
                <a:solidFill>
                  <a:srgbClr val="000000"/>
                </a:solidFill>
                <a:effectLst/>
                <a:latin typeface="Grandview Display" panose="020B0502040204020203" pitchFamily="34" charset="0"/>
              </a:rPr>
              <a:t>asumir</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que</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métodos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más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sofisticados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producirán</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automáticamente</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mejores</a:t>
            </a:r>
            <a:r>
              <a:rPr sz="1800" b="0" dirty="0">
                <a:solidFill>
                  <a:srgbClr val="000000"/>
                </a:solidFill>
                <a:effectLst/>
                <a:latin typeface="Grandview Display" panose="020B0502040204020203" pitchFamily="34" charset="0"/>
              </a:rPr>
              <a:t> </a:t>
            </a:r>
            <a:r>
              <a:rPr sz="1800" b="0" dirty="0" err="1">
                <a:solidFill>
                  <a:srgbClr val="000000"/>
                </a:solidFill>
                <a:effectLst/>
                <a:latin typeface="Grandview Display" panose="020B0502040204020203" pitchFamily="34" charset="0"/>
              </a:rPr>
              <a:t>resultados</a:t>
            </a:r>
            <a:r>
              <a:rPr sz="1800" b="0" dirty="0">
                <a:solidFill>
                  <a:srgbClr val="000000"/>
                </a:solidFill>
                <a:effectLst/>
                <a:latin typeface="Grandview Display" panose="020B0502040204020203" pitchFamily="34" charset="0"/>
              </a:rPr>
              <a:t>. </a:t>
            </a:r>
            <a:endParaRPr lang="en-US" dirty="0"/>
          </a:p>
        </p:txBody>
      </p:sp>
    </p:spTree>
    <p:extLst>
      <p:ext uri="{BB962C8B-B14F-4D97-AF65-F5344CB8AC3E}">
        <p14:creationId xmlns:p14="http://schemas.microsoft.com/office/powerpoint/2010/main" val="823289805"/>
      </p:ext>
    </p:extLst>
  </p:cSld>
  <p:clrMapOvr>
    <a:masterClrMapping/>
  </p:clrMapOvr>
</p:sld>
</file>

<file path=ppt/theme/theme1.xml><?xml version="1.0" encoding="utf-8"?>
<a:theme xmlns:a="http://schemas.openxmlformats.org/drawingml/2006/main" name="Galaxia">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Tema de Office">
  <a:themeElements>
    <a:clrScheme name="Office">
      <a:dk1>
        <a:sysClr val="windowText" lastClr="657385"/>
      </a:dk1>
      <a:lt1>
        <a:sysClr val="window" lastClr="151B26"/>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657385"/>
      </a:dk1>
      <a:lt1>
        <a:sysClr val="window" lastClr="151B26"/>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schemas.microsoft.com/sharepoint/v3"/>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16c05727-aa75-4e4a-9b5f-8a80a1165891"/>
    <ds:schemaRef ds:uri="http://purl.org/dc/dcmitype/"/>
    <ds:schemaRef ds:uri="http://schemas.openxmlformats.org/package/2006/metadata/core-properties"/>
    <ds:schemaRef ds:uri="http://purl.org/dc/elements/1.1/"/>
    <ds:schemaRef ds:uri="230e9df3-be65-4c73-a93b-d1236ebd677e"/>
    <ds:schemaRef ds:uri="71af3243-3dd4-4a8d-8c0d-dd76da1f02a5"/>
    <ds:schemaRef ds:uri="http://purl.org/dc/terms/"/>
    <ds:schemaRef ds:uri="9e626b82-2e62-4b56-b4f0-2eb243f478f4"/>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2AAE3B83-FA12-4233-8BE8-E5165460B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530</TotalTime>
  <Words>2595</Words>
  <Application>Microsoft Office PowerPoint</Application>
  <PresentationFormat>Panorámica</PresentationFormat>
  <Paragraphs>114</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Aptos</vt:lpstr>
      <vt:lpstr>Arial</vt:lpstr>
      <vt:lpstr>Grandview Display</vt:lpstr>
      <vt:lpstr>Univers</vt:lpstr>
      <vt:lpstr>Galaxia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Ariel Augusto Ortega Castillo</cp:lastModifiedBy>
  <cp:revision>11</cp:revision>
  <dcterms:created xsi:type="dcterms:W3CDTF">2025-05-21T23:03:00Z</dcterms:created>
  <dcterms:modified xsi:type="dcterms:W3CDTF">2026-03-15T22:31:46Z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